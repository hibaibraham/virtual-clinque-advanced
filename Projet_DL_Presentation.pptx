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70" r:id="rId12"/>
    <p:sldId id="269" r:id="rId13"/>
    <p:sldId id="265" r:id="rId14"/>
    <p:sldId id="267" r:id="rId15"/>
    <p:sldId id="272" r:id="rId16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72" y="4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7690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5BC4D-DA76-206B-69F6-BB6B016DA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60F3E1-2AC0-6953-247F-5B554CB83D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0E1CAD-EA68-552A-87E2-50FE4113AD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2B07A-DF6B-5774-BFDE-96C680AB65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1614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B1526-DD76-08DF-4B3D-FBB23EA31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EF4D6C-7CC5-E580-9B38-4CA15F7E0E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8F4470-8289-8873-6C38-C58030F495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5B746-BF6C-3A93-94C0-A53F1CD5C6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140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A45BC-F9AF-5E74-3DB3-AA24F4105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BCFD29-3EBE-7638-45DC-077CB16D76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9B91A4-3E0F-A600-D51B-049A41D6FF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92CC05-3317-A5EF-B38F-BD873A4DDE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3986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D3CC2-6EEE-3ED6-6D2B-101553B34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2D41A0-8449-99FA-2949-27348E9DBA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9E8D20-A0C0-EA9A-BE6A-60C2D72ADB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C19B16-2590-0D2C-1C51-2F07038E2E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768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DE59B-10B5-B0F1-8712-B9E0076806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48D8F9-ADC5-6F98-4508-E0CFA34D9F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F4D7E-3E31-445A-FA3C-8C1889E78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F8035-8F6E-47DC-BFCB-C76BBD58BC18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C5CAD-85B9-F3BC-1ABA-A5120C921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8D2AC-7008-C109-5842-12491938B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B4FF3-F6F5-48E1-8B24-65260F3F8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21715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94B52-1E21-C211-4E92-ADC170EDC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B863B-BA0D-3433-FB85-1FCC352AB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76BAD-B48B-45D8-B3E5-2A5F38E90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F8035-8F6E-47DC-BFCB-C76BBD58BC18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9DAF5-9196-D579-2DE0-E1E465975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8F1D7-9A1D-C3EF-85EA-A8E5B5E22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B4FF3-F6F5-48E1-8B24-65260F3F8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84239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FA98B-AD5D-48F1-CBE8-3AFA17C16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43D5B5-F915-021B-5E2F-AD36E5818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68EA3-33FF-E58E-BFB3-A4F157936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F8035-8F6E-47DC-BFCB-C76BBD58BC18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D2520-5277-93F3-4A3D-7C1A018BC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60131-B882-AE71-AC7C-A09BFB0E3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B4FF3-F6F5-48E1-8B24-65260F3F8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18017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2DB53-A668-EBFE-6152-A09E2C7F5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D4E80-BDF7-18EC-BCC1-A19789C8FB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EE576B-61C0-C186-609C-5237D2D8C1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1001C-611D-4D5E-F981-36FD574F1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F8035-8F6E-47DC-BFCB-C76BBD58BC18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C7DFC3-F49B-38DC-211B-23EC9CE5C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93F2AA-EB8D-C887-05E9-0B25D357E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B4FF3-F6F5-48E1-8B24-65260F3F8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91463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55CE9-AF0C-DEB7-D155-74A3EE520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B627DC-1839-A9D0-C012-35246F6564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D704AA-F9A7-1D3F-1DF0-336BFCF6E4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34A917-843C-D6AB-37A5-502C1FA39E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BE49C7-6C95-C0CB-0FE8-BA3AFA71C7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3826FC-2B6B-E238-D74E-B02ED29A6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F8035-8F6E-47DC-BFCB-C76BBD58BC18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203A07-4932-E0D8-95BF-9F9E30F78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F9DD69-D4FE-967B-E3ED-A64E7A144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B4FF3-F6F5-48E1-8B24-65260F3F8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41531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6279B-0C34-39D3-3038-36FDABD7D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BC7857-E9A1-8D22-36A9-61D88F368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F8035-8F6E-47DC-BFCB-C76BBD58BC18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BD0CE1-BFA1-6F7B-999D-5B931F8CA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5CD622-1B74-AB0E-89F4-CBAE8C0DD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B4FF3-F6F5-48E1-8B24-65260F3F8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58823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3CA102-771F-2D4C-A76C-F0D49A448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F8035-8F6E-47DC-BFCB-C76BBD58BC18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F9A839-8E43-60F4-1769-DB3771679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481DA9-19B9-0E6C-81F0-FF5B7B0F7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B4FF3-F6F5-48E1-8B24-65260F3F8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57826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A8287-E813-F1C8-051A-E0A0EBAB6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0D102-6DAC-42A4-B433-2E6CB22B9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FEC4EA-4D79-6076-86DF-836AB8F236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13778E-C82F-EB12-B249-749EF039A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F8035-8F6E-47DC-BFCB-C76BBD58BC18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8769A3-D4EF-ED82-5E21-E21A688CD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5346E-6493-4391-D9F3-2C2F53174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B4FF3-F6F5-48E1-8B24-65260F3F8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31389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CF539-7567-0F0B-E28E-9E5DB20C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2AD10C-AF88-933C-0218-8CD34B7365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6D648B-6F0A-1B60-2836-81969F6F75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3DC419-D907-2ABA-D027-9AA852D7F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F8035-8F6E-47DC-BFCB-C76BBD58BC18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B3A686-C2BD-0894-B9A3-A49B53891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61DC2C-A5FB-C419-BC0B-E5C602D6B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B4FF3-F6F5-48E1-8B24-65260F3F8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434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86820-1B1B-D67B-A925-EE678D9FF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C088ED-26B4-D3D6-AE6F-237DB62E2E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852D1-9AB3-7B54-5078-E22020309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F8035-8F6E-47DC-BFCB-C76BBD58BC18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EF42D-A856-86CB-EC38-752FDCF27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D7057-AD37-DC98-217C-6E241CCA4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B4FF3-F6F5-48E1-8B24-65260F3F8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38911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E66C82-17BD-AAB5-8802-40CE9C1752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FA5DC-C6B5-D1B4-0734-49F81CF88C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24463-C200-ADB9-F7FA-30DF35BCC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F8035-8F6E-47DC-BFCB-C76BBD58BC18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FD575-A060-5EB4-01FA-D1A5186ED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F7293-63FB-FBB8-4277-5A9EFF8EC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B4FF3-F6F5-48E1-8B24-65260F3F8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39921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9890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B304A0-AD84-4F1E-99A3-2CED92FCF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5E5624-E706-15F6-732D-99A0D942E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8C8D6-3860-E239-2441-C9B2652A2A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6F8035-8F6E-47DC-BFCB-C76BBD58BC18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A4C75-7F91-CCFD-8F7F-6FCC995067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482C5-421E-DAEC-9E5E-6E56EA96B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EB4FF3-F6F5-48E1-8B24-65260F3F8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039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93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365760"/>
            <a:ext cx="2926080" cy="2926080"/>
          </a:xfrm>
          <a:prstGeom prst="ellipse">
            <a:avLst/>
          </a:prstGeom>
          <a:solidFill>
            <a:srgbClr val="005F73">
              <a:alpha val="25000"/>
            </a:srgbClr>
          </a:solidFill>
          <a:ln w="12700">
            <a:solidFill>
              <a:srgbClr val="005F7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863840" y="2560320"/>
            <a:ext cx="2011680" cy="2011680"/>
          </a:xfrm>
          <a:prstGeom prst="ellipse">
            <a:avLst/>
          </a:prstGeom>
          <a:solidFill>
            <a:srgbClr val="EE9B00">
              <a:alpha val="20000"/>
            </a:srgbClr>
          </a:solidFill>
          <a:ln w="12700">
            <a:solidFill>
              <a:srgbClr val="EE9B0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D2BD"/>
                </a:solidFill>
              </a:rPr>
              <a:t>🏥 Mini-Projet Deep Learning – Virtual Clinic 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Classification Médicale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par Deep Learning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5486400" cy="36576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D2BD"/>
                </a:solidFill>
              </a:rPr>
              <a:t>Détection de Tumeurs Cérébrales · Maladies Oculaires · PTDM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EfficientNet-B0  ·  ResNet-34  ·  Random Forest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PyTorch  ·  FastAI  ·  scikit-learn  ·  Streamlit</a:t>
            </a:r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67DAE7-E7E9-AE59-91AA-892C980E2D90}"/>
              </a:ext>
            </a:extLst>
          </p:cNvPr>
          <p:cNvSpPr txBox="1"/>
          <p:nvPr/>
        </p:nvSpPr>
        <p:spPr>
          <a:xfrm>
            <a:off x="365760" y="3503180"/>
            <a:ext cx="4773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Rihem Ben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Tekaya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– Ayoub Miled – Hiba Ibraham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TABLE DES MATIÈRES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91440" cy="1097280"/>
          </a:xfrm>
          <a:prstGeom prst="rect">
            <a:avLst/>
          </a:prstGeom>
          <a:solidFill>
            <a:srgbClr val="0A93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" y="107899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9396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8912" y="1463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Contexte &amp; Objectifs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7556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Problématique médicale et but du projet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91440" cy="1097280"/>
          </a:xfrm>
          <a:prstGeom prst="rect">
            <a:avLst/>
          </a:prstGeom>
          <a:solidFill>
            <a:srgbClr val="0A93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73752" y="107899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9396"/>
                </a:solidFill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73752" y="1463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Modèle 1 — Tumeurs Cérébrales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73752" y="17556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Dataset · EfficientNet-B0 · Résultats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267712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267712"/>
            <a:ext cx="91440" cy="1097280"/>
          </a:xfrm>
          <a:prstGeom prst="rect">
            <a:avLst/>
          </a:prstGeom>
          <a:solidFill>
            <a:srgbClr val="0A93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8912" y="234086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9396"/>
                </a:solidFill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38912" y="27249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Modèle 2 — Maladies Oculaires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8912" y="30175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Dataset · ResNet-34 · FastAI · Résultats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267712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09160" y="2267712"/>
            <a:ext cx="91440" cy="1097280"/>
          </a:xfrm>
          <a:prstGeom prst="rect">
            <a:avLst/>
          </a:prstGeom>
          <a:solidFill>
            <a:srgbClr val="0A93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73752" y="234086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9396"/>
                </a:solidFill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873752" y="27249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0D1B2A"/>
                </a:solidFill>
              </a:rPr>
              <a:t>Modèle 3 — </a:t>
            </a:r>
            <a:r>
              <a:rPr lang="en-US" sz="1300" b="1" dirty="0" err="1">
                <a:solidFill>
                  <a:srgbClr val="0D1B2A"/>
                </a:solidFill>
              </a:rPr>
              <a:t>Analyse</a:t>
            </a:r>
            <a:r>
              <a:rPr lang="en-US" sz="1300" b="1" dirty="0">
                <a:solidFill>
                  <a:srgbClr val="0D1B2A"/>
                </a:solidFill>
              </a:rPr>
              <a:t> </a:t>
            </a:r>
            <a:r>
              <a:rPr lang="en-US" sz="1300" b="1" dirty="0" err="1">
                <a:solidFill>
                  <a:srgbClr val="0D1B2A"/>
                </a:solidFill>
              </a:rPr>
              <a:t>Dentaire</a:t>
            </a:r>
            <a:r>
              <a:rPr lang="en-US" sz="1300" b="1" dirty="0">
                <a:solidFill>
                  <a:srgbClr val="0D1B2A"/>
                </a:solidFill>
              </a:rPr>
              <a:t> (ResNet18)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73752" y="30175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Paramètres cliniques · Algorithme ML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529584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4320" y="3529584"/>
            <a:ext cx="91440" cy="1097280"/>
          </a:xfrm>
          <a:prstGeom prst="rect">
            <a:avLst/>
          </a:prstGeom>
          <a:solidFill>
            <a:srgbClr val="0A93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38912" y="360273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9396"/>
                </a:solidFill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38912" y="398678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Architecture de l'Application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38912" y="42793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Streamlit · MongoDB · Modules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529584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09160" y="3529584"/>
            <a:ext cx="91440" cy="1097280"/>
          </a:xfrm>
          <a:prstGeom prst="rect">
            <a:avLst/>
          </a:prstGeom>
          <a:solidFill>
            <a:srgbClr val="0A93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73752" y="360273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9396"/>
                </a:solidFill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873752" y="398678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Conclusion &amp; Perspectives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73752" y="42793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Bilan et améliorations futures</a:t>
            </a:r>
            <a:endParaRPr 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F21E926-FB3A-F326-6621-B9A4FEF84FE4}"/>
              </a:ext>
            </a:extLst>
          </p:cNvPr>
          <p:cNvSpPr txBox="1"/>
          <p:nvPr/>
        </p:nvSpPr>
        <p:spPr>
          <a:xfrm>
            <a:off x="8668512" y="4752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  ·  CONTEXTE &amp; OBJECTIFS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F73"/>
                </a:solidFill>
              </a:rPr>
              <a:t>Problématique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Le diagnostic médical assisté par IA représente une révolution dans la détection précoce des maladies.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Les tumeurs cérébrales, les pathologies oculaires et le diabète post-transplantation (PTDM) nécessitent une analyse rapide et précise.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Dans ce contexte, nous avons développé une application clinique complète </a:t>
            </a:r>
            <a:r>
              <a:rPr lang="en-US" sz="1200" dirty="0" err="1">
                <a:solidFill>
                  <a:srgbClr val="1E293B"/>
                </a:solidFill>
              </a:rPr>
              <a:t>intégrant</a:t>
            </a:r>
            <a:r>
              <a:rPr lang="en-US" sz="1200" dirty="0">
                <a:solidFill>
                  <a:srgbClr val="1E293B"/>
                </a:solidFill>
              </a:rPr>
              <a:t> 3 modèles de Deep Learning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Et 2 </a:t>
            </a:r>
            <a:r>
              <a:rPr lang="en-US" sz="1200" dirty="0" err="1">
                <a:solidFill>
                  <a:srgbClr val="1E293B"/>
                </a:solidFill>
              </a:rPr>
              <a:t>modèles</a:t>
            </a:r>
            <a:r>
              <a:rPr lang="en-US" sz="1200" dirty="0">
                <a:solidFill>
                  <a:srgbClr val="1E293B"/>
                </a:solidFill>
              </a:rPr>
              <a:t> de Machine Learning 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937260"/>
            <a:ext cx="42062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5488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F73"/>
                </a:solidFill>
              </a:rPr>
              <a:t>Objectifs du Projet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508760"/>
            <a:ext cx="457200" cy="457200"/>
          </a:xfrm>
          <a:prstGeom prst="ellipse">
            <a:avLst/>
          </a:prstGeom>
          <a:solidFill>
            <a:srgbClr val="0A9396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49240" y="154533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Classer 4 types de tumeurs cérébrales par IRM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132684"/>
            <a:ext cx="457200" cy="457200"/>
          </a:xfrm>
          <a:prstGeom prst="ellipse">
            <a:avLst/>
          </a:prstGeom>
          <a:solidFill>
            <a:srgbClr val="0A9396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49240" y="2116836"/>
            <a:ext cx="3383280" cy="47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Diagnostiquer 5 maladies oculaires par photo rétinienne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2799718"/>
            <a:ext cx="457200" cy="457200"/>
          </a:xfrm>
          <a:prstGeom prst="ellipse">
            <a:avLst/>
          </a:prstGeom>
          <a:solidFill>
            <a:srgbClr val="0A9396">
              <a:alpha val="8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54880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49240" y="342364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1E293B"/>
                </a:solidFill>
              </a:rPr>
              <a:t>Prédirele</a:t>
            </a:r>
            <a:r>
              <a:rPr lang="en-US" sz="1200" dirty="0">
                <a:solidFill>
                  <a:srgbClr val="1E293B"/>
                </a:solidFill>
              </a:rPr>
              <a:t> </a:t>
            </a:r>
            <a:r>
              <a:rPr lang="en-US" sz="1200" dirty="0" err="1">
                <a:solidFill>
                  <a:srgbClr val="1E293B"/>
                </a:solidFill>
              </a:rPr>
              <a:t>risque</a:t>
            </a:r>
            <a:r>
              <a:rPr lang="en-US" sz="1200" dirty="0">
                <a:solidFill>
                  <a:srgbClr val="1E293B"/>
                </a:solidFill>
              </a:rPr>
              <a:t> </a:t>
            </a:r>
            <a:r>
              <a:rPr lang="en-US" sz="1200" dirty="0" err="1">
                <a:solidFill>
                  <a:srgbClr val="1E293B"/>
                </a:solidFill>
              </a:rPr>
              <a:t>d’avoir</a:t>
            </a:r>
            <a:r>
              <a:rPr lang="en-US" sz="1200" dirty="0">
                <a:solidFill>
                  <a:srgbClr val="1E293B"/>
                </a:solidFill>
              </a:rPr>
              <a:t> le </a:t>
            </a:r>
            <a:r>
              <a:rPr lang="en-US" sz="1200" dirty="0" err="1">
                <a:solidFill>
                  <a:srgbClr val="1E293B"/>
                </a:solidFill>
              </a:rPr>
              <a:t>theroiyde</a:t>
            </a:r>
            <a:r>
              <a:rPr lang="en-US" sz="1200" dirty="0">
                <a:solidFill>
                  <a:srgbClr val="1E293B"/>
                </a:solidFill>
              </a:rPr>
              <a:t> et  le risque PTDM après transplantation rénale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4050792"/>
            <a:ext cx="457200" cy="457200"/>
          </a:xfrm>
          <a:prstGeom prst="ellipse">
            <a:avLst/>
          </a:prstGeom>
          <a:solidFill>
            <a:srgbClr val="0A9396">
              <a:alpha val="8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54880" y="3758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49240" y="409067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Déployer via une application Streamlit sécurisée</a:t>
            </a:r>
            <a:endParaRPr 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89D912-3BB8-F102-9B64-46ED171E5ED8}"/>
              </a:ext>
            </a:extLst>
          </p:cNvPr>
          <p:cNvSpPr txBox="1"/>
          <p:nvPr/>
        </p:nvSpPr>
        <p:spPr>
          <a:xfrm>
            <a:off x="8668512" y="4752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A809F008-17B7-C483-D839-2FBEA2FC18B9}"/>
              </a:ext>
            </a:extLst>
          </p:cNvPr>
          <p:cNvSpPr/>
          <p:nvPr/>
        </p:nvSpPr>
        <p:spPr>
          <a:xfrm>
            <a:off x="4754880" y="3423642"/>
            <a:ext cx="457200" cy="457200"/>
          </a:xfrm>
          <a:prstGeom prst="ellipse">
            <a:avLst/>
          </a:prstGeom>
          <a:solidFill>
            <a:srgbClr val="0A9396">
              <a:alpha val="8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6E1D187-D627-6582-6F14-62C620456CB0}"/>
              </a:ext>
            </a:extLst>
          </p:cNvPr>
          <p:cNvSpPr txBox="1"/>
          <p:nvPr/>
        </p:nvSpPr>
        <p:spPr>
          <a:xfrm>
            <a:off x="5303520" y="2889819"/>
            <a:ext cx="30224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Classer 5 types des conditions </a:t>
            </a:r>
            <a:r>
              <a:rPr lang="en-US" sz="1200" dirty="0" err="1"/>
              <a:t>dentaires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5F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  ·  MODÈLE 1 — TUMEURS CÉRÉBRALES  |  Dataset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F73"/>
                </a:solidFill>
              </a:rPr>
              <a:t>  Dataset — Brain Tumor MRI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3749040" cy="429768"/>
          </a:xfrm>
          <a:prstGeom prst="rect">
            <a:avLst/>
          </a:prstGeom>
          <a:solidFill>
            <a:srgbClr val="EB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5361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F73"/>
                </a:solidFill>
              </a:rPr>
              <a:t>Source 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37360" y="1536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NCI Genomic Data Commons (biopsy-confirmed)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3749040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0391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F73"/>
                </a:solidFill>
              </a:rPr>
              <a:t>Format 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37360" y="2039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Images MRI (JPG/PNG)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468880"/>
            <a:ext cx="3749040" cy="429768"/>
          </a:xfrm>
          <a:prstGeom prst="rect">
            <a:avLst/>
          </a:prstGeom>
          <a:solidFill>
            <a:srgbClr val="EB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542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F73"/>
                </a:solidFill>
              </a:rPr>
              <a:t>Résolution 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37360" y="2542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224 × 224 px (redimensionné)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3749040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044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F73"/>
                </a:solidFill>
              </a:rPr>
              <a:t>Train 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37360" y="3044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~5 726 images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474720"/>
            <a:ext cx="3749040" cy="429768"/>
          </a:xfrm>
          <a:prstGeom prst="rect">
            <a:avLst/>
          </a:prstGeom>
          <a:solidFill>
            <a:srgbClr val="EB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5478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F73"/>
                </a:solidFill>
              </a:rPr>
              <a:t>Test/Val 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737360" y="3547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~1 311 images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977640"/>
            <a:ext cx="3749040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40507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F73"/>
                </a:solidFill>
              </a:rPr>
              <a:t>Classes 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737360" y="4050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4 classes équilibrées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0" y="914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F73"/>
                </a:solidFill>
              </a:rPr>
              <a:t>Classes Cibles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0" y="1325880"/>
            <a:ext cx="429768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0" y="1325880"/>
            <a:ext cx="109728" cy="749808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</a:rPr>
              <a:t>Glioma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54880" y="17099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Tumeur du tissu glial, la plus fréquente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2194560"/>
            <a:ext cx="429768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572000" y="2194560"/>
            <a:ext cx="109728" cy="749808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54880" y="2240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</a:rPr>
              <a:t>Méningiome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54880" y="25786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Tumeur bénigne des méninges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0" y="3063240"/>
            <a:ext cx="429768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572000" y="3063240"/>
            <a:ext cx="109728" cy="749808"/>
          </a:xfrm>
          <a:prstGeom prst="rect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54880" y="3108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C653"/>
                </a:solidFill>
              </a:rPr>
              <a:t>No Tumor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754880" y="34472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IRM normale, aucune tumeur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0" y="3931920"/>
            <a:ext cx="429768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572000" y="3931920"/>
            <a:ext cx="109728" cy="749808"/>
          </a:xfrm>
          <a:prstGeom prst="rect">
            <a:avLst/>
          </a:prstGeom>
          <a:solidFill>
            <a:srgbClr val="4895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54880" y="3977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895EF"/>
                </a:solidFill>
              </a:rPr>
              <a:t>Pituitaire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754880" y="43159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Tumeur de l'hypophyse</a:t>
            </a:r>
            <a:endParaRPr lang="en-US" sz="10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CBE80E-573E-11DB-FC55-921127F927C5}"/>
              </a:ext>
            </a:extLst>
          </p:cNvPr>
          <p:cNvSpPr txBox="1"/>
          <p:nvPr/>
        </p:nvSpPr>
        <p:spPr>
          <a:xfrm>
            <a:off x="8668512" y="4752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5F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  ·  MODÈLE 1 — TUMEURS CÉRÉBRALES  |  Architecture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46304" y="1005840"/>
            <a:ext cx="1645920" cy="1371600"/>
          </a:xfrm>
          <a:prstGeom prst="rect">
            <a:avLst/>
          </a:prstGeom>
          <a:solidFill>
            <a:srgbClr val="4895E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7160" y="1126998"/>
            <a:ext cx="1668780" cy="11292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Image MRI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224×224×3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 flipV="1">
            <a:off x="1792224" y="1691639"/>
            <a:ext cx="361188" cy="45719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67712" y="157276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38528" y="996696"/>
            <a:ext cx="1645920" cy="1371600"/>
          </a:xfrm>
          <a:prstGeom prst="rect">
            <a:avLst/>
          </a:prstGeom>
          <a:solidFill>
            <a:srgbClr val="0A939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103120" y="100584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EfficientNet-B0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(ImageNet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pré-entraîné)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75304" y="1645920"/>
            <a:ext cx="473311" cy="54864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096512" y="157276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49042" y="996696"/>
            <a:ext cx="1645920" cy="1371600"/>
          </a:xfrm>
          <a:prstGeom prst="rect">
            <a:avLst/>
          </a:prstGeom>
          <a:solidFill>
            <a:srgbClr val="005F7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781044" y="986536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Dropout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(0.4)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Linear(1280→256)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79008" y="1645920"/>
            <a:ext cx="411480" cy="54864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08192" y="157276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00700" y="1005839"/>
            <a:ext cx="1645920" cy="1371600"/>
          </a:xfrm>
          <a:prstGeom prst="rect">
            <a:avLst/>
          </a:prstGeom>
          <a:solidFill>
            <a:srgbClr val="EE9B0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14416" y="1030223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ReLU 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Dropout(0.2)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Linear(256→4)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90688" y="1645920"/>
            <a:ext cx="411480" cy="54864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119872" y="157276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02068" y="986536"/>
            <a:ext cx="1645920" cy="1371600"/>
          </a:xfrm>
          <a:prstGeom prst="rect">
            <a:avLst/>
          </a:prstGeom>
          <a:solidFill>
            <a:srgbClr val="E6394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88352" y="1028698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Softmax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 Classes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606040"/>
            <a:ext cx="3657600" cy="502920"/>
          </a:xfrm>
          <a:prstGeom prst="rect">
            <a:avLst/>
          </a:prstGeom>
          <a:solidFill>
            <a:srgbClr val="EBF4F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2651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F73"/>
                </a:solidFill>
              </a:rPr>
              <a:t> Phase 1 (10 epochs) — Base gelée | LR = 1e-3 | AdamW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0" y="2606040"/>
            <a:ext cx="4754880" cy="502920"/>
          </a:xfrm>
          <a:prstGeom prst="rect">
            <a:avLst/>
          </a:prstGeom>
          <a:solidFill>
            <a:srgbClr val="FFF3E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206240" y="2651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5309"/>
                </a:solidFill>
              </a:rPr>
              <a:t> Phase 2 (20 epochs) — Fine-tuning complet | LR = 1e-4 | CosineAnnealingLR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" y="3246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F73"/>
                </a:solidFill>
              </a:rPr>
              <a:t>Hyperparamètres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74320" y="3611880"/>
            <a:ext cx="4206240" cy="329184"/>
          </a:xfrm>
          <a:prstGeom prst="rect">
            <a:avLst/>
          </a:prstGeom>
          <a:solidFill>
            <a:srgbClr val="EB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5760" y="36667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F73"/>
                </a:solidFill>
              </a:rPr>
              <a:t>Batch Size 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194560" y="36667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32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3611880"/>
            <a:ext cx="4206240" cy="329184"/>
          </a:xfrm>
          <a:prstGeom prst="rect">
            <a:avLst/>
          </a:prstGeom>
          <a:solidFill>
            <a:srgbClr val="EB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00600" y="36667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F73"/>
                </a:solidFill>
              </a:rPr>
              <a:t>Epochs totaux 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629400" y="36667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30 (10 + 20)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3995928"/>
            <a:ext cx="420624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65760" y="40507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F73"/>
                </a:solidFill>
              </a:rPr>
              <a:t>Loss Function 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194560" y="40507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CrossEntropy + Label Smoothing 0.1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3995928"/>
            <a:ext cx="420624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00600" y="40507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F73"/>
                </a:solidFill>
              </a:rPr>
              <a:t>Optimizer 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629400" y="40507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AdamW (weight_decay=1e-4)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4379976"/>
            <a:ext cx="4206240" cy="329184"/>
          </a:xfrm>
          <a:prstGeom prst="rect">
            <a:avLst/>
          </a:prstGeom>
          <a:solidFill>
            <a:srgbClr val="EB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65760" y="4434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F73"/>
                </a:solidFill>
              </a:rPr>
              <a:t>Augmentation 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194560" y="44348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Flip H/V · Rotation 15° · ColorJitter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09160" y="4379976"/>
            <a:ext cx="4206240" cy="329184"/>
          </a:xfrm>
          <a:prstGeom prst="rect">
            <a:avLst/>
          </a:prstGeom>
          <a:solidFill>
            <a:srgbClr val="EB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00600" y="4434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F73"/>
                </a:solidFill>
              </a:rPr>
              <a:t>Normalisation :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629400" y="44348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ImageNet µ=[0.485,0.456,0.406]</a:t>
            </a:r>
            <a:endParaRPr lang="en-US" sz="10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34386BE-F96F-1866-C773-4123A3E531AC}"/>
              </a:ext>
            </a:extLst>
          </p:cNvPr>
          <p:cNvSpPr txBox="1"/>
          <p:nvPr/>
        </p:nvSpPr>
        <p:spPr>
          <a:xfrm>
            <a:off x="8668512" y="4752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5F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  ·  MODÈLE 1 — TUMEURS CÉRÉBRALES  |  Résultats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743200" cy="73152"/>
          </a:xfrm>
          <a:prstGeom prst="rect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DC653"/>
                </a:solidFill>
              </a:rPr>
              <a:t>97.5%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7432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Test Accuracy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743200" cy="73152"/>
          </a:xfrm>
          <a:prstGeom prst="rect">
            <a:avLst/>
          </a:prstGeom>
          <a:solidFill>
            <a:srgbClr val="0A93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0" y="10515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A9396"/>
                </a:solidFill>
              </a:rPr>
              <a:t>97.4%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20040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F1-Score (macro)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0" y="914400"/>
            <a:ext cx="2743200" cy="73152"/>
          </a:xfrm>
          <a:prstGeom prst="rect">
            <a:avLst/>
          </a:prstGeom>
          <a:solidFill>
            <a:srgbClr val="EE9B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26480" y="10515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E9B00"/>
                </a:solidFill>
              </a:rPr>
              <a:t>≥0.99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12648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AUC-ROC (moyen)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2331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F73"/>
                </a:solidFill>
              </a:rPr>
              <a:t>Rapport de Classification par Classe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97480"/>
          <a:ext cx="5303520" cy="21488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Classe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Glioma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0.98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0.97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0.97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Méningiome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0.95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0.96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0.95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No Tumor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0.99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0.99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0.99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Pituitaire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0.98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0.98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0.98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5760720" y="914400"/>
            <a:ext cx="3108960" cy="393192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852160" y="1005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4D2BD"/>
                </a:solidFill>
              </a:rPr>
              <a:t> Points Forts</a:t>
            </a:r>
            <a:endParaRPr lang="en-US" b="1" dirty="0"/>
          </a:p>
        </p:txBody>
      </p:sp>
      <p:sp>
        <p:nvSpPr>
          <p:cNvPr id="20" name="Text 17"/>
          <p:cNvSpPr/>
          <p:nvPr/>
        </p:nvSpPr>
        <p:spPr>
          <a:xfrm>
            <a:off x="5852160" y="14630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E9B00"/>
                </a:solidFill>
              </a:rPr>
              <a:t>▸ </a:t>
            </a:r>
            <a:r>
              <a:rPr lang="en-US" sz="1000" dirty="0">
                <a:solidFill>
                  <a:srgbClr val="FFFFFF"/>
                </a:solidFill>
              </a:rPr>
              <a:t>Transfer Learning depuis ImageNet accélère la convergence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852160" y="208483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E9B00"/>
                </a:solidFill>
              </a:rPr>
              <a:t>▸ </a:t>
            </a:r>
            <a:r>
              <a:rPr lang="en-US" sz="1000" dirty="0">
                <a:solidFill>
                  <a:srgbClr val="FFFFFF"/>
                </a:solidFill>
              </a:rPr>
              <a:t>Fine-tuning progressif en 2 phases évite l'overfitting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852160" y="270662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E9B00"/>
                </a:solidFill>
              </a:rPr>
              <a:t>▸ </a:t>
            </a:r>
            <a:r>
              <a:rPr lang="en-US" sz="1000" dirty="0">
                <a:solidFill>
                  <a:srgbClr val="FFFFFF"/>
                </a:solidFill>
              </a:rPr>
              <a:t>Label Smoothing (0.1) améliore la généralisation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852160" y="332841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E9B00"/>
                </a:solidFill>
              </a:rPr>
              <a:t>▸ </a:t>
            </a:r>
            <a:r>
              <a:rPr lang="en-US" sz="1000" dirty="0">
                <a:solidFill>
                  <a:srgbClr val="FFFFFF"/>
                </a:solidFill>
              </a:rPr>
              <a:t>AUC ≥ 0.99 sur toutes les classes — séparabilité excellente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852160" y="39502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E9B00"/>
                </a:solidFill>
              </a:rPr>
              <a:t>▸ </a:t>
            </a:r>
            <a:r>
              <a:rPr lang="en-US" sz="1000" dirty="0">
                <a:solidFill>
                  <a:srgbClr val="FFFFFF"/>
                </a:solidFill>
              </a:rPr>
              <a:t>Méningiome : classe la plus difficile (F1=0.95) — morphologie proche des tumeurs bénignes</a:t>
            </a:r>
            <a:endParaRPr lang="en-US" sz="1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DDA0A8-7D39-31CC-E036-CE5CDB6E27C3}"/>
              </a:ext>
            </a:extLst>
          </p:cNvPr>
          <p:cNvSpPr txBox="1"/>
          <p:nvPr/>
        </p:nvSpPr>
        <p:spPr>
          <a:xfrm>
            <a:off x="8668512" y="47988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  ·  MODÈLE 2 — MALADIES OCULAIRES  |  Dataset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6A4F"/>
                </a:solidFill>
              </a:rPr>
              <a:t>  Dataset — Eye Disease Images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3749040" cy="429768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5361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</a:rPr>
              <a:t>Source 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20240" y="15361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Dataset personnalisé + augmentation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3749040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0391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</a:rPr>
              <a:t>Format 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2039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Images rétiniennes (JPG/PNG)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468880"/>
            <a:ext cx="3749040" cy="429768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5420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</a:rPr>
              <a:t>Résolution 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2542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192 × 192 px (Squish)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3749040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044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</a:rPr>
              <a:t>Split 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30449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80% Train / 20% Validation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474720"/>
            <a:ext cx="3749040" cy="429768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5478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</a:rPr>
              <a:t>Augmentation 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35478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Flip + Rotation 180°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977640"/>
            <a:ext cx="3749040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40507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</a:rPr>
              <a:t>Classes 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20240" y="40507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5 pathologies oculaires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0" y="914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6A4F"/>
                </a:solidFill>
              </a:rPr>
              <a:t>5 Classes Cibles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0" y="1325880"/>
            <a:ext cx="429768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0" y="1325880"/>
            <a:ext cx="109728" cy="594360"/>
          </a:xfrm>
          <a:prstGeom prst="rect">
            <a:avLst/>
          </a:prstGeom>
          <a:solidFill>
            <a:srgbClr val="1D7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0" y="13624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7A8C"/>
                </a:solidFill>
              </a:rPr>
              <a:t>Glaucome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54880" y="163677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Neuropathie optique glaucomateuse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2011680"/>
            <a:ext cx="429768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572000" y="2011680"/>
            <a:ext cx="109728" cy="594360"/>
          </a:xfrm>
          <a:prstGeom prst="rect">
            <a:avLst/>
          </a:prstGeom>
          <a:solidFill>
            <a:srgbClr val="5E54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54880" y="20482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548E"/>
                </a:solidFill>
              </a:rPr>
              <a:t>Cataracte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54880" y="232257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Opacification du cristallin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0" y="2697480"/>
            <a:ext cx="429768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572000" y="2697480"/>
            <a:ext cx="109728" cy="594360"/>
          </a:xfrm>
          <a:prstGeom prst="rect">
            <a:avLst/>
          </a:prstGeom>
          <a:solidFill>
            <a:srgbClr val="D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54880" y="27340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2828"/>
                </a:solidFill>
              </a:rPr>
              <a:t>Uvéite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54880" y="300837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Inflammation de l'uvée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0" y="3383280"/>
            <a:ext cx="429768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572000" y="3383280"/>
            <a:ext cx="109728" cy="594360"/>
          </a:xfrm>
          <a:prstGeom prst="rect">
            <a:avLst/>
          </a:prstGeom>
          <a:solidFill>
            <a:srgbClr val="F77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54880" y="34198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7F00"/>
                </a:solidFill>
              </a:rPr>
              <a:t>Strabisme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754880" y="369417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Déviation axiale des yeux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0" y="4069080"/>
            <a:ext cx="429768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572000" y="4069080"/>
            <a:ext cx="109728" cy="59436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754880" y="41056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</a:rPr>
              <a:t>Exophtalmie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754880" y="437997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Protrusion du globe oculaire</a:t>
            </a:r>
            <a:endParaRPr lang="en-US" sz="10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27CDDDE-E586-CFF1-BDA6-F191DC449625}"/>
              </a:ext>
            </a:extLst>
          </p:cNvPr>
          <p:cNvSpPr txBox="1"/>
          <p:nvPr/>
        </p:nvSpPr>
        <p:spPr>
          <a:xfrm>
            <a:off x="8668512" y="4752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  ·  MODÈLE 2 — MALADIES OCULAIRES  |  Architecture &amp; Résultats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1600200" cy="1097280"/>
          </a:xfrm>
          <a:prstGeom prst="rect">
            <a:avLst/>
          </a:prstGeom>
          <a:solidFill>
            <a:srgbClr val="5E548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960120"/>
            <a:ext cx="1600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Image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192×192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47088" y="14264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▶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84248" y="960120"/>
            <a:ext cx="1600200" cy="1097280"/>
          </a:xfrm>
          <a:prstGeom prst="rect">
            <a:avLst/>
          </a:prstGeom>
          <a:solidFill>
            <a:srgbClr val="2D6A4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984248" y="960120"/>
            <a:ext cx="1600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DataBlock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+ Augment.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02736" y="14264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39896" y="960120"/>
            <a:ext cx="1600200" cy="1097280"/>
          </a:xfrm>
          <a:prstGeom prst="rect">
            <a:avLst/>
          </a:prstGeom>
          <a:solidFill>
            <a:srgbClr val="1D7A8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739896" y="960120"/>
            <a:ext cx="1600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ResNet-34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(ImageNet)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58384" y="14264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▶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95544" y="960120"/>
            <a:ext cx="1600200" cy="1097280"/>
          </a:xfrm>
          <a:prstGeom prst="rect">
            <a:avLst/>
          </a:prstGeom>
          <a:solidFill>
            <a:srgbClr val="D6282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95544" y="960120"/>
            <a:ext cx="1600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Fine-Tune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50 epochs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14032" y="14264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51192" y="960120"/>
            <a:ext cx="1600200" cy="1097280"/>
          </a:xfrm>
          <a:prstGeom prst="rect">
            <a:avLst/>
          </a:prstGeom>
          <a:solidFill>
            <a:srgbClr val="F77F0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251192" y="960120"/>
            <a:ext cx="1600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 Classes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Softmax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" y="2194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</a:rPr>
              <a:t>Fonctionnalités FastAI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2578608"/>
            <a:ext cx="4160520" cy="384048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26517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</a:rPr>
              <a:t>Framework 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37360" y="265176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FastAI + PyTorch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991356"/>
            <a:ext cx="416052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" y="406450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</a:rPr>
              <a:t>Backbone 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89785" y="4045263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ResNet-34 pré-entraîné ImageNet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035808"/>
            <a:ext cx="4160520" cy="384048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31089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</a:rPr>
              <a:t>Méthode 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737360" y="310896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vision_learner + fine_tune()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522701"/>
            <a:ext cx="416052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11480" y="4610729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</a:rPr>
              <a:t>Epochs 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89785" y="462138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50 epochs fine-tuning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3493008"/>
            <a:ext cx="4160520" cy="384048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5760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</a:rPr>
              <a:t>Split 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737360" y="356616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RandomSplitter (valid_pct=0.2)</a:t>
            </a:r>
            <a:endParaRPr lang="en-US" sz="1000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AFCB108-77FB-18FA-49FC-098AFA7937E5}"/>
              </a:ext>
            </a:extLst>
          </p:cNvPr>
          <p:cNvGrpSpPr/>
          <p:nvPr/>
        </p:nvGrpSpPr>
        <p:grpSpPr>
          <a:xfrm>
            <a:off x="4683903" y="2176794"/>
            <a:ext cx="3484840" cy="384048"/>
            <a:chOff x="4683903" y="2176794"/>
            <a:chExt cx="3484840" cy="384048"/>
          </a:xfrm>
        </p:grpSpPr>
        <p:sp>
          <p:nvSpPr>
            <p:cNvPr id="34" name="Shape 32"/>
            <p:cNvSpPr/>
            <p:nvPr/>
          </p:nvSpPr>
          <p:spPr>
            <a:xfrm>
              <a:off x="4683903" y="2176794"/>
              <a:ext cx="2906505" cy="384048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US"/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E2E40AC1-B544-AFC9-657B-016A53B8B6F9}"/>
                </a:ext>
              </a:extLst>
            </p:cNvPr>
            <p:cNvGrpSpPr/>
            <p:nvPr/>
          </p:nvGrpSpPr>
          <p:grpSpPr>
            <a:xfrm>
              <a:off x="4843789" y="2268234"/>
              <a:ext cx="3324954" cy="237744"/>
              <a:chOff x="4822350" y="2340864"/>
              <a:chExt cx="3324954" cy="237744"/>
            </a:xfrm>
          </p:grpSpPr>
          <p:sp>
            <p:nvSpPr>
              <p:cNvPr id="35" name="Text 33"/>
              <p:cNvSpPr/>
              <p:nvPr/>
            </p:nvSpPr>
            <p:spPr>
              <a:xfrm>
                <a:off x="4822350" y="2340864"/>
                <a:ext cx="1371600" cy="2377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00" b="1" dirty="0">
                    <a:solidFill>
                      <a:srgbClr val="2D6A4F"/>
                    </a:solidFill>
                  </a:rPr>
                  <a:t>LR Finder :</a:t>
                </a:r>
                <a:endParaRPr lang="en-US" sz="1000" dirty="0"/>
              </a:p>
            </p:txBody>
          </p:sp>
          <p:sp>
            <p:nvSpPr>
              <p:cNvPr id="36" name="Text 34"/>
              <p:cNvSpPr/>
              <p:nvPr/>
            </p:nvSpPr>
            <p:spPr>
              <a:xfrm>
                <a:off x="5541264" y="2340864"/>
                <a:ext cx="2606040" cy="2377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00" dirty="0">
                    <a:solidFill>
                      <a:srgbClr val="1E293B"/>
                    </a:solidFill>
                  </a:rPr>
                  <a:t>Utilisé pour optimiser le taux</a:t>
                </a:r>
                <a:endParaRPr lang="en-US" sz="1000" dirty="0"/>
              </a:p>
            </p:txBody>
          </p:sp>
        </p:grp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9638043-0208-4ECC-0D3D-FDE5CC8FC0D0}"/>
              </a:ext>
            </a:extLst>
          </p:cNvPr>
          <p:cNvGrpSpPr/>
          <p:nvPr/>
        </p:nvGrpSpPr>
        <p:grpSpPr>
          <a:xfrm>
            <a:off x="5215585" y="2679192"/>
            <a:ext cx="3004470" cy="2214551"/>
            <a:chOff x="4539684" y="2644480"/>
            <a:chExt cx="3004470" cy="2214551"/>
          </a:xfrm>
        </p:grpSpPr>
        <p:sp>
          <p:nvSpPr>
            <p:cNvPr id="37" name="Shape 35"/>
            <p:cNvSpPr/>
            <p:nvPr/>
          </p:nvSpPr>
          <p:spPr>
            <a:xfrm>
              <a:off x="4539684" y="2644480"/>
              <a:ext cx="3004470" cy="2214551"/>
            </a:xfrm>
            <a:prstGeom prst="rect">
              <a:avLst/>
            </a:prstGeom>
            <a:solidFill>
              <a:srgbClr val="2D6A4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 37"/>
            <p:cNvSpPr/>
            <p:nvPr/>
          </p:nvSpPr>
          <p:spPr>
            <a:xfrm>
              <a:off x="4709162" y="2724912"/>
              <a:ext cx="832102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94D2BD"/>
                  </a:solidFill>
                </a:rPr>
                <a:t>Val Accuracy :</a:t>
              </a:r>
              <a:endParaRPr lang="en-US" sz="10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5717284" y="3056860"/>
              <a:ext cx="786693" cy="49385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/>
              <a:r>
                <a:rPr lang="en-US" sz="1100" b="1" dirty="0">
                  <a:solidFill>
                    <a:srgbClr val="FFFFFF"/>
                  </a:solidFill>
                </a:rPr>
                <a:t>ResNet-34</a:t>
              </a:r>
              <a:endParaRPr lang="en-US" sz="11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4709162" y="3127248"/>
              <a:ext cx="832102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94D2BD"/>
                  </a:solidFill>
                </a:rPr>
                <a:t>Architecture :</a:t>
              </a:r>
              <a:endParaRPr lang="en-US" sz="100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5171598" y="2738428"/>
              <a:ext cx="123444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endParaRPr lang="en-US" sz="110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4708851" y="3477560"/>
              <a:ext cx="786693" cy="36478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94D2BD"/>
                  </a:solidFill>
                </a:rPr>
                <a:t>Epochs :</a:t>
              </a:r>
              <a:endParaRPr lang="en-US" sz="100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5763003" y="3388606"/>
              <a:ext cx="559005" cy="5007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100" b="1" dirty="0">
                  <a:solidFill>
                    <a:srgbClr val="FFFFFF"/>
                  </a:solidFill>
                </a:rPr>
                <a:t>50</a:t>
              </a:r>
              <a:endParaRPr lang="en-US" sz="110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4709162" y="3931920"/>
              <a:ext cx="786382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94D2BD"/>
                  </a:solidFill>
                </a:rPr>
                <a:t>Top-Loss Viz :</a:t>
              </a:r>
              <a:endParaRPr lang="en-US" sz="1000" dirty="0"/>
            </a:p>
          </p:txBody>
        </p:sp>
        <p:sp>
          <p:nvSpPr>
            <p:cNvPr id="46" name="Text 44"/>
            <p:cNvSpPr/>
            <p:nvPr/>
          </p:nvSpPr>
          <p:spPr>
            <a:xfrm>
              <a:off x="5301567" y="3910791"/>
              <a:ext cx="123444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100" b="1" dirty="0">
                  <a:solidFill>
                    <a:srgbClr val="FFFFFF"/>
                  </a:solidFill>
                </a:rPr>
                <a:t>Disponible</a:t>
              </a:r>
              <a:endParaRPr lang="en-US" sz="1100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4714399" y="4334256"/>
              <a:ext cx="82686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94D2BD"/>
                  </a:solidFill>
                </a:rPr>
                <a:t>Confusion Matrix :</a:t>
              </a:r>
              <a:endParaRPr lang="en-US" sz="1000" dirty="0"/>
            </a:p>
          </p:txBody>
        </p:sp>
        <p:sp>
          <p:nvSpPr>
            <p:cNvPr id="48" name="Text 46"/>
            <p:cNvSpPr/>
            <p:nvPr/>
          </p:nvSpPr>
          <p:spPr>
            <a:xfrm>
              <a:off x="5213145" y="4334256"/>
              <a:ext cx="123444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100" b="1" dirty="0">
                  <a:solidFill>
                    <a:srgbClr val="FFFFFF"/>
                  </a:solidFill>
                </a:rPr>
                <a:t>Calculée</a:t>
              </a:r>
              <a:endParaRPr lang="en-US" sz="1100" dirty="0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14BEC654-1AF4-F506-5306-B91E764B57BA}"/>
              </a:ext>
            </a:extLst>
          </p:cNvPr>
          <p:cNvSpPr txBox="1"/>
          <p:nvPr/>
        </p:nvSpPr>
        <p:spPr>
          <a:xfrm>
            <a:off x="8668512" y="4752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AD5A0D6-7958-CCC1-4AF5-DA84A146BCDE}"/>
              </a:ext>
            </a:extLst>
          </p:cNvPr>
          <p:cNvSpPr txBox="1"/>
          <p:nvPr/>
        </p:nvSpPr>
        <p:spPr>
          <a:xfrm>
            <a:off x="6604986" y="2773140"/>
            <a:ext cx="6919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95%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1A1E90-1152-6079-2F47-AF4AB13F6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E7395DD-D725-1416-010A-88E9212AB191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A68D706-F89D-611C-9390-106D7C59A59E}"/>
              </a:ext>
            </a:extLst>
          </p:cNvPr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  ·  MODÈLE 2 — MALADIES OCULAIRES  |  Dataset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E31C3E2-5DA6-90F4-5936-36E21D84F6B5}"/>
              </a:ext>
            </a:extLst>
          </p:cNvPr>
          <p:cNvSpPr/>
          <p:nvPr/>
        </p:nvSpPr>
        <p:spPr>
          <a:xfrm>
            <a:off x="274320" y="914400"/>
            <a:ext cx="402336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C79EE4F-DF5B-3F75-E9B6-72280EEEE28F}"/>
              </a:ext>
            </a:extLst>
          </p:cNvPr>
          <p:cNvSpPr/>
          <p:nvPr/>
        </p:nvSpPr>
        <p:spPr>
          <a:xfrm>
            <a:off x="365760" y="1005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6A4F"/>
                </a:solidFill>
              </a:rPr>
              <a:t>  Dataset — Eye Disease Images</a:t>
            </a:r>
            <a:endParaRPr lang="en-US" sz="1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99CFDDF-43C1-0D91-CB0E-127BE5F8C57E}"/>
              </a:ext>
            </a:extLst>
          </p:cNvPr>
          <p:cNvSpPr/>
          <p:nvPr/>
        </p:nvSpPr>
        <p:spPr>
          <a:xfrm>
            <a:off x="365760" y="1463040"/>
            <a:ext cx="3749040" cy="429768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F70CDD6-C136-BD53-BE6A-292E9ADA212A}"/>
              </a:ext>
            </a:extLst>
          </p:cNvPr>
          <p:cNvSpPr/>
          <p:nvPr/>
        </p:nvSpPr>
        <p:spPr>
          <a:xfrm>
            <a:off x="457200" y="15361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</a:rPr>
              <a:t>Source :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B8F2967-C019-060E-03F8-DEFB374CCCDB}"/>
              </a:ext>
            </a:extLst>
          </p:cNvPr>
          <p:cNvSpPr/>
          <p:nvPr/>
        </p:nvSpPr>
        <p:spPr>
          <a:xfrm>
            <a:off x="1920240" y="15361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Dataset personnalisé + augmentation</a:t>
            </a:r>
            <a:endParaRPr lang="en-US" sz="11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6523946-9D97-E298-B70A-8D43D10ED291}"/>
              </a:ext>
            </a:extLst>
          </p:cNvPr>
          <p:cNvSpPr/>
          <p:nvPr/>
        </p:nvSpPr>
        <p:spPr>
          <a:xfrm>
            <a:off x="365760" y="1965960"/>
            <a:ext cx="3749040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2E22009-243C-EA00-693D-CBA734BA1ED4}"/>
              </a:ext>
            </a:extLst>
          </p:cNvPr>
          <p:cNvSpPr/>
          <p:nvPr/>
        </p:nvSpPr>
        <p:spPr>
          <a:xfrm>
            <a:off x="457200" y="20391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</a:rPr>
              <a:t>Format :</a:t>
            </a:r>
            <a:endParaRPr lang="en-US" sz="11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A61D28E-A913-8291-3FD9-9E28CC9101BC}"/>
              </a:ext>
            </a:extLst>
          </p:cNvPr>
          <p:cNvSpPr/>
          <p:nvPr/>
        </p:nvSpPr>
        <p:spPr>
          <a:xfrm>
            <a:off x="1920240" y="2039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Images rétiniennes (JPG/PNG)</a:t>
            </a:r>
            <a:endParaRPr lang="en-US" sz="11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4298F7F5-BA07-F1FF-FF49-3DAF440CDC0C}"/>
              </a:ext>
            </a:extLst>
          </p:cNvPr>
          <p:cNvSpPr/>
          <p:nvPr/>
        </p:nvSpPr>
        <p:spPr>
          <a:xfrm>
            <a:off x="365760" y="2468880"/>
            <a:ext cx="3749040" cy="429768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F8920C2-C531-D97D-2E45-03FA32CAFA45}"/>
              </a:ext>
            </a:extLst>
          </p:cNvPr>
          <p:cNvSpPr/>
          <p:nvPr/>
        </p:nvSpPr>
        <p:spPr>
          <a:xfrm>
            <a:off x="457200" y="25420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</a:rPr>
              <a:t>Résolution :</a:t>
            </a:r>
            <a:endParaRPr lang="en-US" sz="11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B83124A-DE06-3C87-DF09-757772167E01}"/>
              </a:ext>
            </a:extLst>
          </p:cNvPr>
          <p:cNvSpPr/>
          <p:nvPr/>
        </p:nvSpPr>
        <p:spPr>
          <a:xfrm>
            <a:off x="1920240" y="2542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192 × 192 px (Squish)</a:t>
            </a:r>
            <a:endParaRPr lang="en-US" sz="11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15385B8-23F9-BF8C-7AA1-3CDA110377CF}"/>
              </a:ext>
            </a:extLst>
          </p:cNvPr>
          <p:cNvSpPr/>
          <p:nvPr/>
        </p:nvSpPr>
        <p:spPr>
          <a:xfrm>
            <a:off x="365760" y="2971800"/>
            <a:ext cx="3749040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C4819A8-D5AB-1116-B41B-8A980034EB78}"/>
              </a:ext>
            </a:extLst>
          </p:cNvPr>
          <p:cNvSpPr/>
          <p:nvPr/>
        </p:nvSpPr>
        <p:spPr>
          <a:xfrm>
            <a:off x="457200" y="3044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</a:rPr>
              <a:t>Split :</a:t>
            </a:r>
            <a:endParaRPr lang="en-US" sz="11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3C4E5DF-5A88-8DB4-E6E8-DB71E90EC644}"/>
              </a:ext>
            </a:extLst>
          </p:cNvPr>
          <p:cNvSpPr/>
          <p:nvPr/>
        </p:nvSpPr>
        <p:spPr>
          <a:xfrm>
            <a:off x="1920240" y="30449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80% Train / 20% Validation</a:t>
            </a:r>
            <a:endParaRPr lang="en-US" sz="11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7B25C306-F065-AE69-893B-7C34DEC665F4}"/>
              </a:ext>
            </a:extLst>
          </p:cNvPr>
          <p:cNvSpPr/>
          <p:nvPr/>
        </p:nvSpPr>
        <p:spPr>
          <a:xfrm>
            <a:off x="365760" y="3474720"/>
            <a:ext cx="3749040" cy="429768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F6A54B0-866E-76F0-DB86-B03C181F4F52}"/>
              </a:ext>
            </a:extLst>
          </p:cNvPr>
          <p:cNvSpPr/>
          <p:nvPr/>
        </p:nvSpPr>
        <p:spPr>
          <a:xfrm>
            <a:off x="457200" y="35478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</a:rPr>
              <a:t>Augmentation :</a:t>
            </a:r>
            <a:endParaRPr lang="en-US" sz="11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562551B-323F-9659-C6A1-72F259BC61B7}"/>
              </a:ext>
            </a:extLst>
          </p:cNvPr>
          <p:cNvSpPr/>
          <p:nvPr/>
        </p:nvSpPr>
        <p:spPr>
          <a:xfrm>
            <a:off x="1920240" y="35478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Flip + Rotation 180°</a:t>
            </a:r>
            <a:endParaRPr lang="en-US" sz="11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D2E124FC-B588-DCBB-16AC-C5428CC9D280}"/>
              </a:ext>
            </a:extLst>
          </p:cNvPr>
          <p:cNvSpPr/>
          <p:nvPr/>
        </p:nvSpPr>
        <p:spPr>
          <a:xfrm>
            <a:off x="365760" y="3977640"/>
            <a:ext cx="3749040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32BF74B-CA42-1A53-A7C2-0ADAD5ACCB49}"/>
              </a:ext>
            </a:extLst>
          </p:cNvPr>
          <p:cNvSpPr/>
          <p:nvPr/>
        </p:nvSpPr>
        <p:spPr>
          <a:xfrm>
            <a:off x="457200" y="40507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</a:rPr>
              <a:t>Classes :</a:t>
            </a:r>
            <a:endParaRPr lang="en-US" sz="11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003CAB7-39C5-4E4E-8E65-694C0178C40D}"/>
              </a:ext>
            </a:extLst>
          </p:cNvPr>
          <p:cNvSpPr/>
          <p:nvPr/>
        </p:nvSpPr>
        <p:spPr>
          <a:xfrm>
            <a:off x="1920240" y="40507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5 pathologies oculaires</a:t>
            </a:r>
            <a:endParaRPr lang="en-US" sz="11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D96A93AC-3509-89C7-80B7-0D6EDE605E50}"/>
              </a:ext>
            </a:extLst>
          </p:cNvPr>
          <p:cNvSpPr/>
          <p:nvPr/>
        </p:nvSpPr>
        <p:spPr>
          <a:xfrm>
            <a:off x="4572000" y="914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6A4F"/>
                </a:solidFill>
              </a:rPr>
              <a:t>5 Classes Cibles</a:t>
            </a:r>
            <a:endParaRPr lang="en-US" sz="14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7A4A5DB0-BCC3-B26A-66CB-BB16B1CB27CB}"/>
              </a:ext>
            </a:extLst>
          </p:cNvPr>
          <p:cNvSpPr/>
          <p:nvPr/>
        </p:nvSpPr>
        <p:spPr>
          <a:xfrm>
            <a:off x="4572000" y="1325880"/>
            <a:ext cx="429768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A0C9DB5E-B5D0-BD8F-6AA2-754A74A63EA2}"/>
              </a:ext>
            </a:extLst>
          </p:cNvPr>
          <p:cNvSpPr/>
          <p:nvPr/>
        </p:nvSpPr>
        <p:spPr>
          <a:xfrm>
            <a:off x="4572000" y="1325880"/>
            <a:ext cx="109728" cy="594360"/>
          </a:xfrm>
          <a:prstGeom prst="rect">
            <a:avLst/>
          </a:prstGeom>
          <a:solidFill>
            <a:srgbClr val="1D7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6AE0DE85-DB4D-80F8-E026-3257CD1E7636}"/>
              </a:ext>
            </a:extLst>
          </p:cNvPr>
          <p:cNvSpPr/>
          <p:nvPr/>
        </p:nvSpPr>
        <p:spPr>
          <a:xfrm>
            <a:off x="4754880" y="13624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7A8C"/>
                </a:solidFill>
              </a:rPr>
              <a:t>Glaucome</a:t>
            </a:r>
            <a:endParaRPr lang="en-US" sz="12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8FCFAE10-AD5A-93E7-D43C-439630CE0C46}"/>
              </a:ext>
            </a:extLst>
          </p:cNvPr>
          <p:cNvSpPr/>
          <p:nvPr/>
        </p:nvSpPr>
        <p:spPr>
          <a:xfrm>
            <a:off x="4754880" y="163677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Neuropathie optique glaucomateuse</a:t>
            </a:r>
            <a:endParaRPr lang="en-US" sz="10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B2D9BF20-3D43-0ED1-9D00-2FB4002DA207}"/>
              </a:ext>
            </a:extLst>
          </p:cNvPr>
          <p:cNvSpPr/>
          <p:nvPr/>
        </p:nvSpPr>
        <p:spPr>
          <a:xfrm>
            <a:off x="4572000" y="2011680"/>
            <a:ext cx="429768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AEDEA126-D83C-2906-D30D-C3C15D398BE2}"/>
              </a:ext>
            </a:extLst>
          </p:cNvPr>
          <p:cNvSpPr/>
          <p:nvPr/>
        </p:nvSpPr>
        <p:spPr>
          <a:xfrm>
            <a:off x="4572000" y="2011680"/>
            <a:ext cx="109728" cy="594360"/>
          </a:xfrm>
          <a:prstGeom prst="rect">
            <a:avLst/>
          </a:prstGeom>
          <a:solidFill>
            <a:srgbClr val="5E54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35DB676A-B816-AA1B-3D74-467AA402E262}"/>
              </a:ext>
            </a:extLst>
          </p:cNvPr>
          <p:cNvSpPr/>
          <p:nvPr/>
        </p:nvSpPr>
        <p:spPr>
          <a:xfrm>
            <a:off x="4754880" y="20482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548E"/>
                </a:solidFill>
              </a:rPr>
              <a:t>Cataracte</a:t>
            </a:r>
            <a:endParaRPr lang="en-US" sz="12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574E42C7-5F19-FC4A-A1FF-D71732C95D2F}"/>
              </a:ext>
            </a:extLst>
          </p:cNvPr>
          <p:cNvSpPr/>
          <p:nvPr/>
        </p:nvSpPr>
        <p:spPr>
          <a:xfrm>
            <a:off x="4754880" y="232257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Opacification du cristallin</a:t>
            </a:r>
            <a:endParaRPr lang="en-US" sz="10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7B9C7F8C-495E-DE9A-6EFA-A6E354975E58}"/>
              </a:ext>
            </a:extLst>
          </p:cNvPr>
          <p:cNvSpPr/>
          <p:nvPr/>
        </p:nvSpPr>
        <p:spPr>
          <a:xfrm>
            <a:off x="4572000" y="2697480"/>
            <a:ext cx="429768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7CCBB918-6052-4E2C-F99A-1B4E0849CB87}"/>
              </a:ext>
            </a:extLst>
          </p:cNvPr>
          <p:cNvSpPr/>
          <p:nvPr/>
        </p:nvSpPr>
        <p:spPr>
          <a:xfrm>
            <a:off x="4572000" y="2697480"/>
            <a:ext cx="109728" cy="594360"/>
          </a:xfrm>
          <a:prstGeom prst="rect">
            <a:avLst/>
          </a:prstGeom>
          <a:solidFill>
            <a:srgbClr val="D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715AB467-33F5-E0FA-0167-A9F2052AE76D}"/>
              </a:ext>
            </a:extLst>
          </p:cNvPr>
          <p:cNvSpPr/>
          <p:nvPr/>
        </p:nvSpPr>
        <p:spPr>
          <a:xfrm>
            <a:off x="4754880" y="27340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2828"/>
                </a:solidFill>
              </a:rPr>
              <a:t>Uvéite</a:t>
            </a:r>
            <a:endParaRPr lang="en-US" sz="12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10BCFF86-DFB6-1A79-9FB0-867EBBF81E20}"/>
              </a:ext>
            </a:extLst>
          </p:cNvPr>
          <p:cNvSpPr/>
          <p:nvPr/>
        </p:nvSpPr>
        <p:spPr>
          <a:xfrm>
            <a:off x="4754880" y="300837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Inflammation de l'uvée</a:t>
            </a:r>
            <a:endParaRPr lang="en-US" sz="100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FFCF47FC-10F2-E023-9D32-C284B1FA3200}"/>
              </a:ext>
            </a:extLst>
          </p:cNvPr>
          <p:cNvSpPr/>
          <p:nvPr/>
        </p:nvSpPr>
        <p:spPr>
          <a:xfrm>
            <a:off x="4572000" y="3383280"/>
            <a:ext cx="429768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D11A264F-1667-622B-1859-1289E3DFBB78}"/>
              </a:ext>
            </a:extLst>
          </p:cNvPr>
          <p:cNvSpPr/>
          <p:nvPr/>
        </p:nvSpPr>
        <p:spPr>
          <a:xfrm>
            <a:off x="4572000" y="3383280"/>
            <a:ext cx="109728" cy="594360"/>
          </a:xfrm>
          <a:prstGeom prst="rect">
            <a:avLst/>
          </a:prstGeom>
          <a:solidFill>
            <a:srgbClr val="F77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35168061-2B58-7611-D1BC-CB782BA50C2E}"/>
              </a:ext>
            </a:extLst>
          </p:cNvPr>
          <p:cNvSpPr/>
          <p:nvPr/>
        </p:nvSpPr>
        <p:spPr>
          <a:xfrm>
            <a:off x="4754880" y="34198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7F00"/>
                </a:solidFill>
              </a:rPr>
              <a:t>Strabisme</a:t>
            </a:r>
            <a:endParaRPr lang="en-US" sz="12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DF1A6261-4CB1-C833-6E98-9777BF22CC6A}"/>
              </a:ext>
            </a:extLst>
          </p:cNvPr>
          <p:cNvSpPr/>
          <p:nvPr/>
        </p:nvSpPr>
        <p:spPr>
          <a:xfrm>
            <a:off x="4754880" y="369417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Déviation axiale des yeux</a:t>
            </a:r>
            <a:endParaRPr lang="en-US" sz="100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BC13AD5A-B869-C4DE-597A-D1FCAACF5D37}"/>
              </a:ext>
            </a:extLst>
          </p:cNvPr>
          <p:cNvSpPr/>
          <p:nvPr/>
        </p:nvSpPr>
        <p:spPr>
          <a:xfrm>
            <a:off x="4572000" y="4069080"/>
            <a:ext cx="429768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ACF0994A-06C0-6593-8B35-D674A78BDBDE}"/>
              </a:ext>
            </a:extLst>
          </p:cNvPr>
          <p:cNvSpPr/>
          <p:nvPr/>
        </p:nvSpPr>
        <p:spPr>
          <a:xfrm>
            <a:off x="4572000" y="4069080"/>
            <a:ext cx="109728" cy="59436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54365DA0-3B00-26E6-7C54-8A09F000B262}"/>
              </a:ext>
            </a:extLst>
          </p:cNvPr>
          <p:cNvSpPr/>
          <p:nvPr/>
        </p:nvSpPr>
        <p:spPr>
          <a:xfrm>
            <a:off x="4754880" y="41056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</a:rPr>
              <a:t>Exophtalmie</a:t>
            </a:r>
            <a:endParaRPr lang="en-US" sz="12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BF832C7E-108D-0AE4-B341-EFF3E70C75FA}"/>
              </a:ext>
            </a:extLst>
          </p:cNvPr>
          <p:cNvSpPr/>
          <p:nvPr/>
        </p:nvSpPr>
        <p:spPr>
          <a:xfrm>
            <a:off x="4754880" y="437997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Protrusion du globe oculaire</a:t>
            </a:r>
            <a:endParaRPr lang="en-US" sz="10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630721C-D7BD-0EF5-7402-598E2A2E2A0A}"/>
              </a:ext>
            </a:extLst>
          </p:cNvPr>
          <p:cNvSpPr txBox="1"/>
          <p:nvPr/>
        </p:nvSpPr>
        <p:spPr>
          <a:xfrm>
            <a:off x="8668512" y="475235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740173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B2D8B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>
                <a:solidFill>
                  <a:srgbClr val="FFFFFF"/>
                </a:solidFill>
              </a:rPr>
              <a:t>04  ·  MODÈLE 3 — </a:t>
            </a:r>
            <a:r>
              <a:rPr lang="en-US" b="1" dirty="0" err="1">
                <a:solidFill>
                  <a:srgbClr val="FFFFFF"/>
                </a:solidFill>
              </a:rPr>
              <a:t>d'analyse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dentaire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846320" y="929452"/>
            <a:ext cx="4087368" cy="29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2D8B"/>
                </a:solidFill>
              </a:rPr>
              <a:t>Classes  </a:t>
            </a:r>
            <a:r>
              <a:rPr lang="en-US" sz="1600" b="1" dirty="0" err="1">
                <a:solidFill>
                  <a:srgbClr val="7B2D8B"/>
                </a:solidFill>
              </a:rPr>
              <a:t>Cibles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 flipV="1">
            <a:off x="2898648" y="19568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98648" y="22219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898648" y="25694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898648" y="30906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898648" y="34381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9808" y="43068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898648" y="39593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2898648" y="43068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81728" y="1230496"/>
            <a:ext cx="4187952" cy="35218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4663440" y="886968"/>
            <a:ext cx="4206240" cy="73152"/>
          </a:xfrm>
          <a:prstGeom prst="rect">
            <a:avLst/>
          </a:prstGeom>
          <a:solidFill>
            <a:srgbClr val="7B2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46320" y="226771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223760" y="38862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1A034AD-CCE5-7403-E721-8A2A446C6A42}"/>
              </a:ext>
            </a:extLst>
          </p:cNvPr>
          <p:cNvSpPr txBox="1"/>
          <p:nvPr/>
        </p:nvSpPr>
        <p:spPr>
          <a:xfrm>
            <a:off x="8668512" y="475235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212B87B4-622F-9815-510B-582ACB5BABB8}"/>
              </a:ext>
            </a:extLst>
          </p:cNvPr>
          <p:cNvGrpSpPr/>
          <p:nvPr/>
        </p:nvGrpSpPr>
        <p:grpSpPr>
          <a:xfrm>
            <a:off x="4985965" y="1403171"/>
            <a:ext cx="3682547" cy="3183207"/>
            <a:chOff x="249373" y="1426893"/>
            <a:chExt cx="3682547" cy="3183207"/>
          </a:xfrm>
        </p:grpSpPr>
        <p:sp>
          <p:nvSpPr>
            <p:cNvPr id="63" name="Shape 32">
              <a:extLst>
                <a:ext uri="{FF2B5EF4-FFF2-40B4-BE49-F238E27FC236}">
                  <a16:creationId xmlns:a16="http://schemas.microsoft.com/office/drawing/2014/main" id="{B2D003AF-401F-8527-5564-38CB3EF4D6F5}"/>
                </a:ext>
              </a:extLst>
            </p:cNvPr>
            <p:cNvSpPr/>
            <p:nvPr/>
          </p:nvSpPr>
          <p:spPr>
            <a:xfrm>
              <a:off x="249373" y="2771728"/>
              <a:ext cx="177968" cy="472440"/>
            </a:xfrm>
            <a:prstGeom prst="rect">
              <a:avLst/>
            </a:prstGeom>
            <a:solidFill>
              <a:srgbClr val="2DC65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Shape 36">
              <a:extLst>
                <a:ext uri="{FF2B5EF4-FFF2-40B4-BE49-F238E27FC236}">
                  <a16:creationId xmlns:a16="http://schemas.microsoft.com/office/drawing/2014/main" id="{6A6D24C2-E77C-19E1-96E8-F9B47DB56A7B}"/>
                </a:ext>
              </a:extLst>
            </p:cNvPr>
            <p:cNvSpPr/>
            <p:nvPr/>
          </p:nvSpPr>
          <p:spPr>
            <a:xfrm>
              <a:off x="249373" y="3513804"/>
              <a:ext cx="177968" cy="445008"/>
            </a:xfrm>
            <a:prstGeom prst="rect">
              <a:avLst/>
            </a:prstGeom>
            <a:solidFill>
              <a:srgbClr val="4895E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Shape 24">
              <a:extLst>
                <a:ext uri="{FF2B5EF4-FFF2-40B4-BE49-F238E27FC236}">
                  <a16:creationId xmlns:a16="http://schemas.microsoft.com/office/drawing/2014/main" id="{F3A10622-3D6F-2AA5-BC4E-43611558D5CA}"/>
                </a:ext>
              </a:extLst>
            </p:cNvPr>
            <p:cNvSpPr/>
            <p:nvPr/>
          </p:nvSpPr>
          <p:spPr>
            <a:xfrm>
              <a:off x="253516" y="1426893"/>
              <a:ext cx="177968" cy="472440"/>
            </a:xfrm>
            <a:prstGeom prst="rect">
              <a:avLst/>
            </a:prstGeom>
            <a:solidFill>
              <a:srgbClr val="E6394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Shape 28">
              <a:extLst>
                <a:ext uri="{FF2B5EF4-FFF2-40B4-BE49-F238E27FC236}">
                  <a16:creationId xmlns:a16="http://schemas.microsoft.com/office/drawing/2014/main" id="{5D72E124-C891-1FFD-E79B-BEFD12DCA057}"/>
                </a:ext>
              </a:extLst>
            </p:cNvPr>
            <p:cNvSpPr/>
            <p:nvPr/>
          </p:nvSpPr>
          <p:spPr>
            <a:xfrm>
              <a:off x="249580" y="2107692"/>
              <a:ext cx="177968" cy="445008"/>
            </a:xfrm>
            <a:prstGeom prst="rect">
              <a:avLst/>
            </a:prstGeom>
            <a:solidFill>
              <a:srgbClr val="F4A261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Shape 24">
              <a:extLst>
                <a:ext uri="{FF2B5EF4-FFF2-40B4-BE49-F238E27FC236}">
                  <a16:creationId xmlns:a16="http://schemas.microsoft.com/office/drawing/2014/main" id="{C70B723F-CB6A-7E4E-1684-02DF69DEAF66}"/>
                </a:ext>
              </a:extLst>
            </p:cNvPr>
            <p:cNvSpPr/>
            <p:nvPr/>
          </p:nvSpPr>
          <p:spPr>
            <a:xfrm>
              <a:off x="249373" y="4137660"/>
              <a:ext cx="177968" cy="472440"/>
            </a:xfrm>
            <a:prstGeom prst="rect">
              <a:avLst/>
            </a:prstGeom>
            <a:solidFill>
              <a:srgbClr val="E6394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1504AEBF-BC8D-03C3-D116-EF3301C4E6D0}"/>
                </a:ext>
              </a:extLst>
            </p:cNvPr>
            <p:cNvSpPr txBox="1"/>
            <p:nvPr/>
          </p:nvSpPr>
          <p:spPr>
            <a:xfrm>
              <a:off x="541538" y="1524001"/>
              <a:ext cx="3390382" cy="30623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100" dirty="0" err="1"/>
                <a:t>Cavity</a:t>
              </a:r>
              <a:r>
                <a:rPr lang="fr-FR" sz="1100" dirty="0"/>
                <a:t> (Carie Dentaire): Lésion carieuse détectée- **Sévérité** : Modéré à Élevé</a:t>
              </a:r>
            </a:p>
            <a:p>
              <a:endParaRPr lang="fr-FR" sz="1050" dirty="0"/>
            </a:p>
            <a:p>
              <a:endParaRPr lang="fr-FR" sz="1050" dirty="0"/>
            </a:p>
            <a:p>
              <a:r>
                <a:rPr lang="fr-FR" sz="1100" dirty="0" err="1"/>
                <a:t>Fillings</a:t>
              </a:r>
              <a:r>
                <a:rPr lang="fr-FR" sz="1100" dirty="0"/>
                <a:t> (Plombage): Obturation dentaire présente- **Sévérité** : Traité</a:t>
              </a:r>
            </a:p>
            <a:p>
              <a:endParaRPr lang="fr-FR" sz="1050" dirty="0"/>
            </a:p>
            <a:p>
              <a:r>
                <a:rPr lang="fr-FR" sz="1100" dirty="0" err="1"/>
                <a:t>Impacted</a:t>
              </a:r>
              <a:r>
                <a:rPr lang="fr-FR" sz="1100" dirty="0"/>
                <a:t> Tooth (Dent Incluse: Dent incluse ou semi-incluse- **Sévérité** : Élevé</a:t>
              </a:r>
            </a:p>
            <a:p>
              <a:endParaRPr lang="fr-FR" sz="1050" dirty="0"/>
            </a:p>
            <a:p>
              <a:endParaRPr lang="fr-FR" sz="1050" dirty="0"/>
            </a:p>
            <a:p>
              <a:endParaRPr lang="fr-FR" sz="1050" dirty="0"/>
            </a:p>
            <a:p>
              <a:r>
                <a:rPr lang="fr-FR" sz="1100" dirty="0"/>
                <a:t>Implant (Implant Dentaire) : Implant dentaire détecté- **Sévérité** : Traité </a:t>
              </a:r>
            </a:p>
            <a:p>
              <a:endParaRPr lang="fr-FR" sz="1050" dirty="0"/>
            </a:p>
            <a:p>
              <a:endParaRPr lang="fr-FR" sz="1050" dirty="0"/>
            </a:p>
            <a:p>
              <a:r>
                <a:rPr lang="fr-FR" sz="1100" dirty="0"/>
                <a:t>Normal (Dent Saine) : Aucune anomalie détectée- **Sévérité** : Normal</a:t>
              </a:r>
              <a:endParaRPr lang="en-US" sz="1100" dirty="0"/>
            </a:p>
          </p:txBody>
        </p:sp>
      </p:grpSp>
      <p:sp>
        <p:nvSpPr>
          <p:cNvPr id="78" name="Shape 2">
            <a:extLst>
              <a:ext uri="{FF2B5EF4-FFF2-40B4-BE49-F238E27FC236}">
                <a16:creationId xmlns:a16="http://schemas.microsoft.com/office/drawing/2014/main" id="{6A65BE8C-A447-099D-7361-C4B16C40C60F}"/>
              </a:ext>
            </a:extLst>
          </p:cNvPr>
          <p:cNvSpPr/>
          <p:nvPr/>
        </p:nvSpPr>
        <p:spPr>
          <a:xfrm>
            <a:off x="274320" y="914400"/>
            <a:ext cx="402336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r>
              <a:rPr lang="en-US" b="1" dirty="0">
                <a:solidFill>
                  <a:srgbClr val="005F73"/>
                </a:solidFill>
              </a:rPr>
              <a:t>  </a:t>
            </a:r>
            <a:r>
              <a:rPr lang="en-US" sz="1600" b="1" dirty="0">
                <a:solidFill>
                  <a:schemeClr val="accent5">
                    <a:lumMod val="50000"/>
                  </a:schemeClr>
                </a:solidFill>
              </a:rPr>
              <a:t>Dataset — Module </a:t>
            </a:r>
            <a:r>
              <a:rPr lang="en-US" sz="1600" b="1" dirty="0" err="1">
                <a:solidFill>
                  <a:schemeClr val="accent5">
                    <a:lumMod val="50000"/>
                  </a:schemeClr>
                </a:solidFill>
              </a:rPr>
              <a:t>d'Analyse</a:t>
            </a:r>
            <a:r>
              <a:rPr lang="en-US" sz="16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sz="1600" b="1" dirty="0" err="1">
                <a:solidFill>
                  <a:schemeClr val="accent5">
                    <a:lumMod val="50000"/>
                  </a:schemeClr>
                </a:solidFill>
              </a:rPr>
              <a:t>Dentaire</a:t>
            </a:r>
            <a:r>
              <a:rPr lang="en-US" sz="16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endParaRPr lang="en-US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9" name="Shape 4">
            <a:extLst>
              <a:ext uri="{FF2B5EF4-FFF2-40B4-BE49-F238E27FC236}">
                <a16:creationId xmlns:a16="http://schemas.microsoft.com/office/drawing/2014/main" id="{4660629B-36E2-6E24-E3E2-0D8C821D7562}"/>
              </a:ext>
            </a:extLst>
          </p:cNvPr>
          <p:cNvSpPr/>
          <p:nvPr/>
        </p:nvSpPr>
        <p:spPr>
          <a:xfrm>
            <a:off x="365760" y="1463040"/>
            <a:ext cx="3749040" cy="429768"/>
          </a:xfrm>
          <a:prstGeom prst="rect">
            <a:avLst/>
          </a:prstGeom>
          <a:solidFill>
            <a:srgbClr val="EBF4F6"/>
          </a:solidFill>
          <a:ln/>
        </p:spPr>
        <p:txBody>
          <a:bodyPr/>
          <a:lstStyle/>
          <a:p>
            <a:r>
              <a:rPr lang="en-US" sz="1200" dirty="0">
                <a:solidFill>
                  <a:schemeClr val="accent5">
                    <a:lumMod val="50000"/>
                  </a:schemeClr>
                </a:solidFill>
              </a:rPr>
              <a:t>Source :</a:t>
            </a:r>
            <a:r>
              <a:rPr lang="en-US" sz="1200" dirty="0" err="1">
                <a:solidFill>
                  <a:schemeClr val="accent5">
                    <a:lumMod val="50000"/>
                  </a:schemeClr>
                </a:solidFill>
              </a:rPr>
              <a:t>Dantal</a:t>
            </a:r>
            <a:r>
              <a:rPr lang="en-US" sz="1200" dirty="0">
                <a:solidFill>
                  <a:schemeClr val="accent5">
                    <a:lumMod val="50000"/>
                  </a:schemeClr>
                </a:solidFill>
              </a:rPr>
              <a:t> Radiography Segmentation-</a:t>
            </a:r>
            <a:r>
              <a:rPr lang="en-US" sz="1200" dirty="0" err="1">
                <a:solidFill>
                  <a:schemeClr val="accent5">
                    <a:lumMod val="50000"/>
                  </a:schemeClr>
                </a:solidFill>
              </a:rPr>
              <a:t>kaggle</a:t>
            </a:r>
            <a:endParaRPr lang="en-US" sz="12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80" name="Shape 4">
            <a:extLst>
              <a:ext uri="{FF2B5EF4-FFF2-40B4-BE49-F238E27FC236}">
                <a16:creationId xmlns:a16="http://schemas.microsoft.com/office/drawing/2014/main" id="{085FCFCB-B2DB-9863-E731-08A6D126781C}"/>
              </a:ext>
            </a:extLst>
          </p:cNvPr>
          <p:cNvSpPr/>
          <p:nvPr/>
        </p:nvSpPr>
        <p:spPr>
          <a:xfrm>
            <a:off x="365760" y="2258568"/>
            <a:ext cx="3749040" cy="429768"/>
          </a:xfrm>
          <a:prstGeom prst="rect">
            <a:avLst/>
          </a:prstGeom>
          <a:solidFill>
            <a:srgbClr val="EBF4F6"/>
          </a:solidFill>
          <a:ln/>
        </p:spPr>
        <p:txBody>
          <a:bodyPr/>
          <a:lstStyle/>
          <a:p>
            <a:r>
              <a:rPr lang="en-US" sz="1200" dirty="0"/>
              <a:t>Format:                         Radiographies </a:t>
            </a:r>
            <a:r>
              <a:rPr lang="en-US" sz="1200" dirty="0" err="1"/>
              <a:t>dentaires</a:t>
            </a:r>
            <a:endParaRPr lang="en-US" sz="1200" dirty="0"/>
          </a:p>
        </p:txBody>
      </p:sp>
      <p:sp>
        <p:nvSpPr>
          <p:cNvPr id="81" name="Shape 4">
            <a:extLst>
              <a:ext uri="{FF2B5EF4-FFF2-40B4-BE49-F238E27FC236}">
                <a16:creationId xmlns:a16="http://schemas.microsoft.com/office/drawing/2014/main" id="{CAF4A226-F7E7-B34B-CBB2-2A326D51D90A}"/>
              </a:ext>
            </a:extLst>
          </p:cNvPr>
          <p:cNvSpPr/>
          <p:nvPr/>
        </p:nvSpPr>
        <p:spPr>
          <a:xfrm>
            <a:off x="365760" y="3145536"/>
            <a:ext cx="3749040" cy="429768"/>
          </a:xfrm>
          <a:prstGeom prst="rect">
            <a:avLst/>
          </a:prstGeom>
          <a:solidFill>
            <a:srgbClr val="EBF4F6"/>
          </a:solidFill>
          <a:ln/>
        </p:spPr>
        <p:txBody>
          <a:bodyPr/>
          <a:lstStyle/>
          <a:p>
            <a:r>
              <a:rPr lang="en-US" sz="1200" dirty="0" err="1"/>
              <a:t>Modèle</a:t>
            </a:r>
            <a:r>
              <a:rPr lang="en-US" sz="1200" dirty="0"/>
              <a:t> :</a:t>
            </a:r>
            <a:r>
              <a:rPr lang="en-US" sz="1200" dirty="0" err="1"/>
              <a:t>ResNet</a:t>
            </a:r>
            <a:r>
              <a:rPr lang="en-US" sz="1200" dirty="0"/>
              <a:t> : He et al., "Deep Residual Learning for Image Recognition" (2015)</a:t>
            </a:r>
          </a:p>
        </p:txBody>
      </p:sp>
      <p:sp>
        <p:nvSpPr>
          <p:cNvPr id="82" name="Shape 4">
            <a:extLst>
              <a:ext uri="{FF2B5EF4-FFF2-40B4-BE49-F238E27FC236}">
                <a16:creationId xmlns:a16="http://schemas.microsoft.com/office/drawing/2014/main" id="{8A2E65E8-795A-97CC-1858-06B2AFE7D188}"/>
              </a:ext>
            </a:extLst>
          </p:cNvPr>
          <p:cNvSpPr/>
          <p:nvPr/>
        </p:nvSpPr>
        <p:spPr>
          <a:xfrm>
            <a:off x="365760" y="3950208"/>
            <a:ext cx="3749040" cy="429768"/>
          </a:xfrm>
          <a:prstGeom prst="rect">
            <a:avLst/>
          </a:prstGeom>
          <a:solidFill>
            <a:srgbClr val="EBF4F6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E4D613-C4B2-9A9A-F905-65865CC94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48B870E-8FC4-F974-9AB2-29CB68A18A86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B2D8B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2BB4987-E3D7-B35A-97D5-B1093B11E02D}"/>
              </a:ext>
            </a:extLst>
          </p:cNvPr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F753E16-386B-91E3-F0B8-56E0E82F0740}"/>
              </a:ext>
            </a:extLst>
          </p:cNvPr>
          <p:cNvSpPr/>
          <p:nvPr/>
        </p:nvSpPr>
        <p:spPr>
          <a:xfrm>
            <a:off x="4846320" y="929452"/>
            <a:ext cx="4087368" cy="29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D093317-825F-52EB-003D-3682BEE7F88D}"/>
              </a:ext>
            </a:extLst>
          </p:cNvPr>
          <p:cNvSpPr/>
          <p:nvPr/>
        </p:nvSpPr>
        <p:spPr>
          <a:xfrm flipV="1">
            <a:off x="2898648" y="19568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0319941-548F-5499-3945-28E69F45755F}"/>
              </a:ext>
            </a:extLst>
          </p:cNvPr>
          <p:cNvSpPr/>
          <p:nvPr/>
        </p:nvSpPr>
        <p:spPr>
          <a:xfrm>
            <a:off x="2898648" y="22219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9C7446D-08C4-8676-5328-32D84B956503}"/>
              </a:ext>
            </a:extLst>
          </p:cNvPr>
          <p:cNvSpPr/>
          <p:nvPr/>
        </p:nvSpPr>
        <p:spPr>
          <a:xfrm>
            <a:off x="2898648" y="25694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5DF9BB9A-D94C-E804-941F-E988BC1A0046}"/>
              </a:ext>
            </a:extLst>
          </p:cNvPr>
          <p:cNvSpPr/>
          <p:nvPr/>
        </p:nvSpPr>
        <p:spPr>
          <a:xfrm>
            <a:off x="2898648" y="30906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E34F173A-4F69-2BC1-88CD-158D66239382}"/>
              </a:ext>
            </a:extLst>
          </p:cNvPr>
          <p:cNvSpPr/>
          <p:nvPr/>
        </p:nvSpPr>
        <p:spPr>
          <a:xfrm>
            <a:off x="2898648" y="34381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B4E770E4-837D-1551-4D0C-17BCCE961010}"/>
              </a:ext>
            </a:extLst>
          </p:cNvPr>
          <p:cNvSpPr/>
          <p:nvPr/>
        </p:nvSpPr>
        <p:spPr>
          <a:xfrm>
            <a:off x="749808" y="43068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2F0306FB-690A-A050-8495-BC8E68C3E4E6}"/>
              </a:ext>
            </a:extLst>
          </p:cNvPr>
          <p:cNvSpPr/>
          <p:nvPr/>
        </p:nvSpPr>
        <p:spPr>
          <a:xfrm>
            <a:off x="2898648" y="39593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9E96EA39-BC5D-D5A3-AE4B-EE983BA3E18A}"/>
              </a:ext>
            </a:extLst>
          </p:cNvPr>
          <p:cNvSpPr/>
          <p:nvPr/>
        </p:nvSpPr>
        <p:spPr>
          <a:xfrm>
            <a:off x="2898648" y="43068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94389242-AB68-3C43-5EE6-5AA2EAFFD55F}"/>
              </a:ext>
            </a:extLst>
          </p:cNvPr>
          <p:cNvSpPr/>
          <p:nvPr/>
        </p:nvSpPr>
        <p:spPr>
          <a:xfrm>
            <a:off x="4681728" y="960120"/>
            <a:ext cx="4187952" cy="379223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76E5C34B-CDBA-CF80-7D2C-B1C0DF72BBED}"/>
              </a:ext>
            </a:extLst>
          </p:cNvPr>
          <p:cNvSpPr/>
          <p:nvPr/>
        </p:nvSpPr>
        <p:spPr>
          <a:xfrm>
            <a:off x="4663440" y="886968"/>
            <a:ext cx="4206240" cy="73152"/>
          </a:xfrm>
          <a:prstGeom prst="rect">
            <a:avLst/>
          </a:prstGeom>
          <a:solidFill>
            <a:srgbClr val="7B2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9DFE5F3B-BEA4-43B3-35BB-359682B600CC}"/>
              </a:ext>
            </a:extLst>
          </p:cNvPr>
          <p:cNvSpPr/>
          <p:nvPr/>
        </p:nvSpPr>
        <p:spPr>
          <a:xfrm>
            <a:off x="4846320" y="226771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E37D9B3C-9199-3F37-CE16-D754D96EA84F}"/>
              </a:ext>
            </a:extLst>
          </p:cNvPr>
          <p:cNvSpPr/>
          <p:nvPr/>
        </p:nvSpPr>
        <p:spPr>
          <a:xfrm>
            <a:off x="7223760" y="38862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ECC94F7-50EE-1FB3-84E8-4648B2980BC5}"/>
              </a:ext>
            </a:extLst>
          </p:cNvPr>
          <p:cNvSpPr txBox="1"/>
          <p:nvPr/>
        </p:nvSpPr>
        <p:spPr>
          <a:xfrm>
            <a:off x="8668512" y="4752356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78" name="Shape 2">
            <a:extLst>
              <a:ext uri="{FF2B5EF4-FFF2-40B4-BE49-F238E27FC236}">
                <a16:creationId xmlns:a16="http://schemas.microsoft.com/office/drawing/2014/main" id="{91341565-2EA2-3501-933C-7DD80ED468B3}"/>
              </a:ext>
            </a:extLst>
          </p:cNvPr>
          <p:cNvSpPr/>
          <p:nvPr/>
        </p:nvSpPr>
        <p:spPr>
          <a:xfrm>
            <a:off x="338328" y="929452"/>
            <a:ext cx="402336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2BAC9E8-F7D6-BE58-F146-082F8B6CD4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4033228"/>
              </p:ext>
            </p:extLst>
          </p:nvPr>
        </p:nvGraphicFramePr>
        <p:xfrm>
          <a:off x="459982" y="1743017"/>
          <a:ext cx="3780052" cy="2260573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945013">
                  <a:extLst>
                    <a:ext uri="{9D8B030D-6E8A-4147-A177-3AD203B41FA5}">
                      <a16:colId xmlns:a16="http://schemas.microsoft.com/office/drawing/2014/main" val="1311323133"/>
                    </a:ext>
                  </a:extLst>
                </a:gridCol>
                <a:gridCol w="945013">
                  <a:extLst>
                    <a:ext uri="{9D8B030D-6E8A-4147-A177-3AD203B41FA5}">
                      <a16:colId xmlns:a16="http://schemas.microsoft.com/office/drawing/2014/main" val="2465121161"/>
                    </a:ext>
                  </a:extLst>
                </a:gridCol>
                <a:gridCol w="945013">
                  <a:extLst>
                    <a:ext uri="{9D8B030D-6E8A-4147-A177-3AD203B41FA5}">
                      <a16:colId xmlns:a16="http://schemas.microsoft.com/office/drawing/2014/main" val="517567539"/>
                    </a:ext>
                  </a:extLst>
                </a:gridCol>
                <a:gridCol w="945013">
                  <a:extLst>
                    <a:ext uri="{9D8B030D-6E8A-4147-A177-3AD203B41FA5}">
                      <a16:colId xmlns:a16="http://schemas.microsoft.com/office/drawing/2014/main" val="2532860850"/>
                    </a:ext>
                  </a:extLst>
                </a:gridCol>
              </a:tblGrid>
              <a:tr h="342957">
                <a:tc>
                  <a:txBody>
                    <a:bodyPr/>
                    <a:lstStyle/>
                    <a:p>
                      <a:r>
                        <a:rPr lang="en-US" dirty="0"/>
                        <a:t>Classe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F1-score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2413127"/>
                  </a:ext>
                </a:extLst>
              </a:tr>
              <a:tr h="342957">
                <a:tc>
                  <a:txBody>
                    <a:bodyPr/>
                    <a:lstStyle/>
                    <a:p>
                      <a:r>
                        <a:rPr lang="en-US" dirty="0"/>
                        <a:t>Cavity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4090243"/>
                  </a:ext>
                </a:extLst>
              </a:tr>
              <a:tr h="342957">
                <a:tc>
                  <a:txBody>
                    <a:bodyPr/>
                    <a:lstStyle/>
                    <a:p>
                      <a:r>
                        <a:rPr lang="en-US" dirty="0"/>
                        <a:t>Fillings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1790933"/>
                  </a:ext>
                </a:extLst>
              </a:tr>
              <a:tr h="545788">
                <a:tc>
                  <a:txBody>
                    <a:bodyPr/>
                    <a:lstStyle/>
                    <a:p>
                      <a:r>
                        <a:rPr lang="en-US" dirty="0"/>
                        <a:t>Impacted</a:t>
                      </a:r>
                    </a:p>
                    <a:p>
                      <a:r>
                        <a:rPr lang="en-US" dirty="0"/>
                        <a:t>Tooth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9048"/>
                  </a:ext>
                </a:extLst>
              </a:tr>
              <a:tr h="342957">
                <a:tc>
                  <a:txBody>
                    <a:bodyPr/>
                    <a:lstStyle/>
                    <a:p>
                      <a:r>
                        <a:rPr lang="en-US" dirty="0"/>
                        <a:t>Implant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2193829"/>
                  </a:ext>
                </a:extLst>
              </a:tr>
              <a:tr h="342957">
                <a:tc>
                  <a:txBody>
                    <a:bodyPr/>
                    <a:lstStyle/>
                    <a:p>
                      <a:r>
                        <a:rPr lang="en-US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52361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35C0BFA-9418-F1EB-A6C2-3C1D29A786BE}"/>
              </a:ext>
            </a:extLst>
          </p:cNvPr>
          <p:cNvSpPr txBox="1"/>
          <p:nvPr/>
        </p:nvSpPr>
        <p:spPr>
          <a:xfrm>
            <a:off x="459982" y="1127464"/>
            <a:ext cx="378005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5">
                    <a:lumMod val="50000"/>
                  </a:schemeClr>
                </a:solidFill>
              </a:rPr>
              <a:t>  Rapport de Classification par Classe</a:t>
            </a:r>
            <a:endParaRPr lang="en-US" sz="1600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0243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3CF81C-E1F1-4EEE-3712-6E4568DD5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69B9B32-EBC4-364A-9EA6-06FEB6D73103}"/>
              </a:ext>
            </a:extLst>
          </p:cNvPr>
          <p:cNvSpPr/>
          <p:nvPr/>
        </p:nvSpPr>
        <p:spPr>
          <a:xfrm>
            <a:off x="0" y="21812"/>
            <a:ext cx="9144000" cy="77724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F54EE50-8D3C-59ED-0E80-161B90A93BE9}"/>
              </a:ext>
            </a:extLst>
          </p:cNvPr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  ·  MODÈLE 3 — PTDM (Diabète Post-Transplantation)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78B9C0D-EB47-46A2-B0D5-37416F6694DF}"/>
              </a:ext>
            </a:extLst>
          </p:cNvPr>
          <p:cNvSpPr/>
          <p:nvPr/>
        </p:nvSpPr>
        <p:spPr>
          <a:xfrm>
            <a:off x="274320" y="8869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2D8B"/>
                </a:solidFill>
              </a:rPr>
              <a:t>Variables Cliniques d'Entrée</a:t>
            </a:r>
            <a:endParaRPr lang="en-US" sz="1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3E37EA0-D689-1CB0-F24A-D859AEF9EDA3}"/>
              </a:ext>
            </a:extLst>
          </p:cNvPr>
          <p:cNvSpPr/>
          <p:nvPr/>
        </p:nvSpPr>
        <p:spPr>
          <a:xfrm>
            <a:off x="274320" y="1280160"/>
            <a:ext cx="201168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03BBEEF-2C5B-37EF-0617-5CFF9D4016FF}"/>
              </a:ext>
            </a:extLst>
          </p:cNvPr>
          <p:cNvSpPr/>
          <p:nvPr/>
        </p:nvSpPr>
        <p:spPr>
          <a:xfrm>
            <a:off x="320040" y="135331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F3DC876-7F78-8518-527A-812ADF68050C}"/>
              </a:ext>
            </a:extLst>
          </p:cNvPr>
          <p:cNvSpPr/>
          <p:nvPr/>
        </p:nvSpPr>
        <p:spPr>
          <a:xfrm>
            <a:off x="749808" y="13533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2D8B"/>
                </a:solidFill>
              </a:rPr>
              <a:t>Âge receveur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0D95CB7-2B87-DE03-6291-73672CA7C2B9}"/>
              </a:ext>
            </a:extLst>
          </p:cNvPr>
          <p:cNvSpPr/>
          <p:nvPr/>
        </p:nvSpPr>
        <p:spPr>
          <a:xfrm>
            <a:off x="749808" y="17007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5">
                    <a:lumMod val="50000"/>
                  </a:schemeClr>
                </a:solidFill>
              </a:rPr>
              <a:t>années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D7676E4-6B63-9F8F-96B4-431E3F96DABE}"/>
              </a:ext>
            </a:extLst>
          </p:cNvPr>
          <p:cNvSpPr/>
          <p:nvPr/>
        </p:nvSpPr>
        <p:spPr>
          <a:xfrm>
            <a:off x="2423160" y="1234440"/>
            <a:ext cx="201168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EEE8E66-13FE-C13C-2A8F-9D75EBB452C3}"/>
              </a:ext>
            </a:extLst>
          </p:cNvPr>
          <p:cNvSpPr/>
          <p:nvPr/>
        </p:nvSpPr>
        <p:spPr>
          <a:xfrm>
            <a:off x="2468880" y="135331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38CB8D2-DDCD-B177-7805-E20FFC6583B3}"/>
              </a:ext>
            </a:extLst>
          </p:cNvPr>
          <p:cNvSpPr/>
          <p:nvPr/>
        </p:nvSpPr>
        <p:spPr>
          <a:xfrm>
            <a:off x="2898648" y="13533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2D8B"/>
                </a:solidFill>
              </a:rPr>
              <a:t>Sexe receveur</a:t>
            </a:r>
            <a:endParaRPr lang="en-US" sz="1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4355D91-1D72-9072-AAF6-707D8EBDC58C}"/>
              </a:ext>
            </a:extLst>
          </p:cNvPr>
          <p:cNvSpPr/>
          <p:nvPr/>
        </p:nvSpPr>
        <p:spPr>
          <a:xfrm>
            <a:off x="2898648" y="17007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5">
                    <a:lumMod val="50000"/>
                  </a:schemeClr>
                </a:solidFill>
              </a:rPr>
              <a:t>M/F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F4A5278-3581-D331-F1A6-D4844F155C52}"/>
              </a:ext>
            </a:extLst>
          </p:cNvPr>
          <p:cNvSpPr/>
          <p:nvPr/>
        </p:nvSpPr>
        <p:spPr>
          <a:xfrm>
            <a:off x="274320" y="2148840"/>
            <a:ext cx="201168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0CB4A4D-9075-DE16-374F-C27F38DA8F53}"/>
              </a:ext>
            </a:extLst>
          </p:cNvPr>
          <p:cNvSpPr/>
          <p:nvPr/>
        </p:nvSpPr>
        <p:spPr>
          <a:xfrm>
            <a:off x="320040" y="222199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7ED2A68-0263-A818-3BC0-40B21B8CA15F}"/>
              </a:ext>
            </a:extLst>
          </p:cNvPr>
          <p:cNvSpPr/>
          <p:nvPr/>
        </p:nvSpPr>
        <p:spPr>
          <a:xfrm>
            <a:off x="749808" y="22219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2D8B"/>
                </a:solidFill>
              </a:rPr>
              <a:t>Obésité pré-TR</a:t>
            </a:r>
            <a:endParaRPr lang="en-US" sz="1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529403E-09EF-CD5B-CFF1-E58D9FE7F933}"/>
              </a:ext>
            </a:extLst>
          </p:cNvPr>
          <p:cNvSpPr/>
          <p:nvPr/>
        </p:nvSpPr>
        <p:spPr>
          <a:xfrm>
            <a:off x="749808" y="25694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5">
                    <a:lumMod val="50000"/>
                  </a:schemeClr>
                </a:solidFill>
              </a:rPr>
              <a:t>Oui/Non</a:t>
            </a: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1F6C1B68-AA6D-118E-8DC7-CD31C0CABCF2}"/>
              </a:ext>
            </a:extLst>
          </p:cNvPr>
          <p:cNvSpPr/>
          <p:nvPr/>
        </p:nvSpPr>
        <p:spPr>
          <a:xfrm>
            <a:off x="2423160" y="2148840"/>
            <a:ext cx="201168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892A6A9-4671-351B-6BBE-012217254314}"/>
              </a:ext>
            </a:extLst>
          </p:cNvPr>
          <p:cNvSpPr/>
          <p:nvPr/>
        </p:nvSpPr>
        <p:spPr>
          <a:xfrm>
            <a:off x="2468880" y="222199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FF1B44A-74D7-60AF-E1F6-0EF3C0945956}"/>
              </a:ext>
            </a:extLst>
          </p:cNvPr>
          <p:cNvSpPr/>
          <p:nvPr/>
        </p:nvSpPr>
        <p:spPr>
          <a:xfrm>
            <a:off x="2898648" y="22219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2D8B"/>
                </a:solidFill>
              </a:rPr>
              <a:t>HTA pré-TR</a:t>
            </a:r>
            <a:endParaRPr lang="en-US" sz="10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ED15069-ED8E-89AF-CEA0-5EA9646908B4}"/>
              </a:ext>
            </a:extLst>
          </p:cNvPr>
          <p:cNvSpPr/>
          <p:nvPr/>
        </p:nvSpPr>
        <p:spPr>
          <a:xfrm>
            <a:off x="2898648" y="25694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5">
                    <a:lumMod val="50000"/>
                  </a:schemeClr>
                </a:solidFill>
              </a:rPr>
              <a:t>Oui/Non</a:t>
            </a: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47F7AF45-3A2B-65C1-02C2-F78B1D4DE988}"/>
              </a:ext>
            </a:extLst>
          </p:cNvPr>
          <p:cNvSpPr/>
          <p:nvPr/>
        </p:nvSpPr>
        <p:spPr>
          <a:xfrm>
            <a:off x="274320" y="3044952"/>
            <a:ext cx="201168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823BB5B-3C4E-933D-8B24-FD8272BFA3C4}"/>
              </a:ext>
            </a:extLst>
          </p:cNvPr>
          <p:cNvSpPr/>
          <p:nvPr/>
        </p:nvSpPr>
        <p:spPr>
          <a:xfrm>
            <a:off x="320040" y="309067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C0BDF4E5-98AD-378F-DDDF-89848416E4C4}"/>
              </a:ext>
            </a:extLst>
          </p:cNvPr>
          <p:cNvSpPr/>
          <p:nvPr/>
        </p:nvSpPr>
        <p:spPr>
          <a:xfrm>
            <a:off x="749808" y="30906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2D8B"/>
                </a:solidFill>
              </a:rPr>
              <a:t>Glycémie pré-TR</a:t>
            </a:r>
            <a:endParaRPr lang="en-US" sz="10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1E6DD1D-3D1E-C22F-1B82-C0496EC30392}"/>
              </a:ext>
            </a:extLst>
          </p:cNvPr>
          <p:cNvSpPr/>
          <p:nvPr/>
        </p:nvSpPr>
        <p:spPr>
          <a:xfrm>
            <a:off x="749808" y="34381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5">
                    <a:lumMod val="50000"/>
                  </a:schemeClr>
                </a:solidFill>
              </a:rPr>
              <a:t>g/L</a:t>
            </a: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61C2535C-8974-DB99-A878-1D5AD519868D}"/>
              </a:ext>
            </a:extLst>
          </p:cNvPr>
          <p:cNvSpPr/>
          <p:nvPr/>
        </p:nvSpPr>
        <p:spPr>
          <a:xfrm>
            <a:off x="2423160" y="3017520"/>
            <a:ext cx="201168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EC47DF12-BE6C-ED0B-490E-23EE32C97B8C}"/>
              </a:ext>
            </a:extLst>
          </p:cNvPr>
          <p:cNvSpPr/>
          <p:nvPr/>
        </p:nvSpPr>
        <p:spPr>
          <a:xfrm>
            <a:off x="2468880" y="309067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FF9A6D9B-F432-5C13-669A-A67C1F069CA8}"/>
              </a:ext>
            </a:extLst>
          </p:cNvPr>
          <p:cNvSpPr/>
          <p:nvPr/>
        </p:nvSpPr>
        <p:spPr>
          <a:xfrm>
            <a:off x="2898648" y="30906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2D8B"/>
                </a:solidFill>
              </a:rPr>
              <a:t>HbA1c pré-TR</a:t>
            </a:r>
            <a:endParaRPr lang="en-US" sz="10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0119467B-A46C-E8AD-DB5A-FB630FFE87FD}"/>
              </a:ext>
            </a:extLst>
          </p:cNvPr>
          <p:cNvSpPr/>
          <p:nvPr/>
        </p:nvSpPr>
        <p:spPr>
          <a:xfrm>
            <a:off x="2898648" y="34381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5">
                    <a:lumMod val="50000"/>
                  </a:schemeClr>
                </a:solidFill>
              </a:rPr>
              <a:t>%</a:t>
            </a: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45ED89DD-45CC-2237-3DCC-B16DCCE68FAE}"/>
              </a:ext>
            </a:extLst>
          </p:cNvPr>
          <p:cNvSpPr/>
          <p:nvPr/>
        </p:nvSpPr>
        <p:spPr>
          <a:xfrm>
            <a:off x="274320" y="3886200"/>
            <a:ext cx="201168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ACB7F2DD-441A-4563-8EA1-B0AAB13A50E4}"/>
              </a:ext>
            </a:extLst>
          </p:cNvPr>
          <p:cNvSpPr/>
          <p:nvPr/>
        </p:nvSpPr>
        <p:spPr>
          <a:xfrm>
            <a:off x="320040" y="395935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7EF8CDE2-A1F9-BED2-0990-3008D55FE0E3}"/>
              </a:ext>
            </a:extLst>
          </p:cNvPr>
          <p:cNvSpPr/>
          <p:nvPr/>
        </p:nvSpPr>
        <p:spPr>
          <a:xfrm>
            <a:off x="749808" y="39593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2D8B"/>
                </a:solidFill>
              </a:rPr>
              <a:t>Durée dialyse</a:t>
            </a:r>
            <a:endParaRPr lang="en-US" sz="10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00E911E7-A6F2-C7FA-9C4E-E7F2F0C341FD}"/>
              </a:ext>
            </a:extLst>
          </p:cNvPr>
          <p:cNvSpPr/>
          <p:nvPr/>
        </p:nvSpPr>
        <p:spPr>
          <a:xfrm>
            <a:off x="749808" y="43068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5">
                    <a:lumMod val="50000"/>
                  </a:schemeClr>
                </a:solidFill>
              </a:rPr>
              <a:t>années</a:t>
            </a: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C5835386-C587-B492-AC7B-9970B5138100}"/>
              </a:ext>
            </a:extLst>
          </p:cNvPr>
          <p:cNvSpPr/>
          <p:nvPr/>
        </p:nvSpPr>
        <p:spPr>
          <a:xfrm>
            <a:off x="2423160" y="3886200"/>
            <a:ext cx="201168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566D5509-3C1E-45AC-BC98-A20F7EC8D2B8}"/>
              </a:ext>
            </a:extLst>
          </p:cNvPr>
          <p:cNvSpPr/>
          <p:nvPr/>
        </p:nvSpPr>
        <p:spPr>
          <a:xfrm>
            <a:off x="2468880" y="395935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95FB7EDE-5756-A738-42BD-55FD942010E0}"/>
              </a:ext>
            </a:extLst>
          </p:cNvPr>
          <p:cNvSpPr/>
          <p:nvPr/>
        </p:nvSpPr>
        <p:spPr>
          <a:xfrm>
            <a:off x="2898648" y="39593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2D8B"/>
                </a:solidFill>
              </a:rPr>
              <a:t>Âge donneur</a:t>
            </a:r>
            <a:endParaRPr lang="en-US" sz="10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5E1D410B-2B81-4EBD-2025-BB347E5EFB1A}"/>
              </a:ext>
            </a:extLst>
          </p:cNvPr>
          <p:cNvSpPr/>
          <p:nvPr/>
        </p:nvSpPr>
        <p:spPr>
          <a:xfrm>
            <a:off x="2898648" y="43068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5">
                    <a:lumMod val="50000"/>
                  </a:schemeClr>
                </a:solidFill>
              </a:rPr>
              <a:t>années</a:t>
            </a:r>
          </a:p>
        </p:txBody>
      </p:sp>
      <p:sp useBgFill="1">
        <p:nvSpPr>
          <p:cNvPr id="37" name="Shape 35">
            <a:extLst>
              <a:ext uri="{FF2B5EF4-FFF2-40B4-BE49-F238E27FC236}">
                <a16:creationId xmlns:a16="http://schemas.microsoft.com/office/drawing/2014/main" id="{5CF1DCBC-FEF6-6648-8235-D6E43B7353B2}"/>
              </a:ext>
            </a:extLst>
          </p:cNvPr>
          <p:cNvSpPr/>
          <p:nvPr/>
        </p:nvSpPr>
        <p:spPr>
          <a:xfrm>
            <a:off x="4663440" y="886968"/>
            <a:ext cx="4206240" cy="3931920"/>
          </a:xfrm>
          <a:prstGeom prst="rect">
            <a:avLst/>
          </a:prstGeom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A7829771-4B3A-15F2-FA34-0378CBB605DE}"/>
              </a:ext>
            </a:extLst>
          </p:cNvPr>
          <p:cNvSpPr/>
          <p:nvPr/>
        </p:nvSpPr>
        <p:spPr>
          <a:xfrm>
            <a:off x="4663440" y="886968"/>
            <a:ext cx="4206240" cy="73152"/>
          </a:xfrm>
          <a:prstGeom prst="rect">
            <a:avLst/>
          </a:prstGeom>
          <a:solidFill>
            <a:srgbClr val="7B2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CEA60F33-C159-20FD-50EE-18817A862B2C}"/>
              </a:ext>
            </a:extLst>
          </p:cNvPr>
          <p:cNvSpPr/>
          <p:nvPr/>
        </p:nvSpPr>
        <p:spPr>
          <a:xfrm>
            <a:off x="4754880" y="9875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2D8B"/>
                </a:solidFill>
              </a:rPr>
              <a:t>Algorithme &amp; Sortie</a:t>
            </a:r>
            <a:endParaRPr lang="en-US" sz="13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E1C17285-0E7A-DD04-8E03-5468FCC97D36}"/>
              </a:ext>
            </a:extLst>
          </p:cNvPr>
          <p:cNvSpPr/>
          <p:nvPr/>
        </p:nvSpPr>
        <p:spPr>
          <a:xfrm>
            <a:off x="4754880" y="138988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Modèle utilisé : </a:t>
            </a:r>
            <a:r>
              <a:rPr lang="en-US" sz="1100" dirty="0">
                <a:solidFill>
                  <a:srgbClr val="94A3B8"/>
                </a:solidFill>
              </a:rPr>
              <a:t>Random Forest (dummy clinique)
</a:t>
            </a:r>
            <a:r>
              <a:rPr lang="en-US" sz="1100" b="1" dirty="0">
                <a:solidFill>
                  <a:srgbClr val="1E293B"/>
                </a:solidFill>
              </a:rPr>
              <a:t>Règles de décision :
</a:t>
            </a:r>
            <a:endParaRPr lang="en-US" sz="110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E817611C-A4AC-0CE0-9560-5B337F6F79C3}"/>
              </a:ext>
            </a:extLst>
          </p:cNvPr>
          <p:cNvSpPr/>
          <p:nvPr/>
        </p:nvSpPr>
        <p:spPr>
          <a:xfrm>
            <a:off x="4754880" y="2212848"/>
            <a:ext cx="3931920" cy="347472"/>
          </a:xfrm>
          <a:prstGeom prst="rect">
            <a:avLst/>
          </a:prstGeom>
          <a:solidFill>
            <a:srgbClr val="F3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D4844C19-0FC9-21CF-9F0C-C0EAABE61F3B}"/>
              </a:ext>
            </a:extLst>
          </p:cNvPr>
          <p:cNvSpPr/>
          <p:nvPr/>
        </p:nvSpPr>
        <p:spPr>
          <a:xfrm>
            <a:off x="4846320" y="226771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2D8B"/>
                </a:solidFill>
              </a:rPr>
              <a:t>IF HbA1c &gt; 6.5%</a:t>
            </a:r>
            <a:endParaRPr lang="en-US" sz="100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8DA3B759-EDFF-CFE9-13CB-CC88DB232684}"/>
              </a:ext>
            </a:extLst>
          </p:cNvPr>
          <p:cNvSpPr/>
          <p:nvPr/>
        </p:nvSpPr>
        <p:spPr>
          <a:xfrm>
            <a:off x="7315200" y="22677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63946"/>
                </a:solidFill>
              </a:rPr>
              <a:t>→ +40% risque</a:t>
            </a:r>
            <a:endParaRPr lang="en-US" sz="100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B12F5A55-3057-45F1-C181-2B80B85FE16D}"/>
              </a:ext>
            </a:extLst>
          </p:cNvPr>
          <p:cNvSpPr/>
          <p:nvPr/>
        </p:nvSpPr>
        <p:spPr>
          <a:xfrm>
            <a:off x="4754880" y="2624328"/>
            <a:ext cx="39319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D60996C5-B6F3-B8E7-5E32-045620657287}"/>
              </a:ext>
            </a:extLst>
          </p:cNvPr>
          <p:cNvSpPr/>
          <p:nvPr/>
        </p:nvSpPr>
        <p:spPr>
          <a:xfrm>
            <a:off x="4846320" y="26791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2D8B"/>
                </a:solidFill>
              </a:rPr>
              <a:t>IF Glycémie &gt; 1.26 g/L</a:t>
            </a:r>
            <a:endParaRPr lang="en-US" sz="100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ED2C592C-F482-FFEA-FC82-C5E77AF3F3A6}"/>
              </a:ext>
            </a:extLst>
          </p:cNvPr>
          <p:cNvSpPr/>
          <p:nvPr/>
        </p:nvSpPr>
        <p:spPr>
          <a:xfrm>
            <a:off x="7315200" y="267919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63946"/>
                </a:solidFill>
              </a:rPr>
              <a:t>→ +30% risque</a:t>
            </a:r>
            <a:endParaRPr lang="en-US" sz="1000" dirty="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AAA3DCBA-48E8-98A7-DE90-4CBBA2939027}"/>
              </a:ext>
            </a:extLst>
          </p:cNvPr>
          <p:cNvSpPr/>
          <p:nvPr/>
        </p:nvSpPr>
        <p:spPr>
          <a:xfrm>
            <a:off x="4754880" y="3035808"/>
            <a:ext cx="3931920" cy="347472"/>
          </a:xfrm>
          <a:prstGeom prst="rect">
            <a:avLst/>
          </a:prstGeom>
          <a:solidFill>
            <a:srgbClr val="F3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B14EBC2B-EEBC-8DFB-8ED6-167F68CF6021}"/>
              </a:ext>
            </a:extLst>
          </p:cNvPr>
          <p:cNvSpPr/>
          <p:nvPr/>
        </p:nvSpPr>
        <p:spPr>
          <a:xfrm>
            <a:off x="4846320" y="309067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2D8B"/>
                </a:solidFill>
              </a:rPr>
              <a:t>IF Obésité = Oui</a:t>
            </a:r>
            <a:endParaRPr lang="en-US" sz="1000" dirty="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66886067-449A-E188-E871-D5229B817B98}"/>
              </a:ext>
            </a:extLst>
          </p:cNvPr>
          <p:cNvSpPr/>
          <p:nvPr/>
        </p:nvSpPr>
        <p:spPr>
          <a:xfrm>
            <a:off x="7315200" y="30906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63946"/>
                </a:solidFill>
              </a:rPr>
              <a:t>→ +10% risque</a:t>
            </a:r>
            <a:endParaRPr lang="en-US" sz="1000" dirty="0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A3D43F2D-7AD4-A7FE-D046-1D1C32DA4A03}"/>
              </a:ext>
            </a:extLst>
          </p:cNvPr>
          <p:cNvSpPr/>
          <p:nvPr/>
        </p:nvSpPr>
        <p:spPr>
          <a:xfrm>
            <a:off x="4754880" y="3447288"/>
            <a:ext cx="39319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FBDA75DB-CE74-FF29-6E87-30AE8FD9E4FC}"/>
              </a:ext>
            </a:extLst>
          </p:cNvPr>
          <p:cNvSpPr/>
          <p:nvPr/>
        </p:nvSpPr>
        <p:spPr>
          <a:xfrm>
            <a:off x="4846320" y="350215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2D8B"/>
                </a:solidFill>
              </a:rPr>
              <a:t>IF Âge &gt; 50 ans</a:t>
            </a:r>
            <a:endParaRPr lang="en-US" sz="1000" dirty="0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CBF6852D-C396-2612-10F7-2F4B8FD1C4D5}"/>
              </a:ext>
            </a:extLst>
          </p:cNvPr>
          <p:cNvSpPr/>
          <p:nvPr/>
        </p:nvSpPr>
        <p:spPr>
          <a:xfrm>
            <a:off x="7315200" y="35021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63946"/>
                </a:solidFill>
              </a:rPr>
              <a:t>→ +10% risque</a:t>
            </a:r>
            <a:endParaRPr lang="en-US" sz="1000" dirty="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EC66D02B-509F-8D4D-7F89-8A1F7E5B525E}"/>
              </a:ext>
            </a:extLst>
          </p:cNvPr>
          <p:cNvSpPr/>
          <p:nvPr/>
        </p:nvSpPr>
        <p:spPr>
          <a:xfrm>
            <a:off x="4754880" y="39136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2D8B"/>
                </a:solidFill>
              </a:rPr>
              <a:t>Résultat :</a:t>
            </a:r>
            <a:endParaRPr lang="en-US" sz="11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05F74FEF-2F19-8DBF-A889-5A1C9876CC5F}"/>
              </a:ext>
            </a:extLst>
          </p:cNvPr>
          <p:cNvSpPr/>
          <p:nvPr/>
        </p:nvSpPr>
        <p:spPr>
          <a:xfrm>
            <a:off x="5852160" y="3886200"/>
            <a:ext cx="1280160" cy="347472"/>
          </a:xfrm>
          <a:prstGeom prst="rect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90312A85-F83D-9D44-C616-8059717EF131}"/>
              </a:ext>
            </a:extLst>
          </p:cNvPr>
          <p:cNvSpPr/>
          <p:nvPr/>
        </p:nvSpPr>
        <p:spPr>
          <a:xfrm>
            <a:off x="5852160" y="38862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 Risque Faible</a:t>
            </a:r>
            <a:endParaRPr lang="en-US" sz="90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F7E80050-28E8-B6DC-747E-653BF58000A9}"/>
              </a:ext>
            </a:extLst>
          </p:cNvPr>
          <p:cNvSpPr/>
          <p:nvPr/>
        </p:nvSpPr>
        <p:spPr>
          <a:xfrm>
            <a:off x="7223760" y="3886200"/>
            <a:ext cx="1554480" cy="347472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6885EFBE-45ED-FB74-FC1A-25DF90A3BEEB}"/>
              </a:ext>
            </a:extLst>
          </p:cNvPr>
          <p:cNvSpPr/>
          <p:nvPr/>
        </p:nvSpPr>
        <p:spPr>
          <a:xfrm>
            <a:off x="7223760" y="38862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Risque PTDM</a:t>
            </a:r>
            <a:endParaRPr lang="en-US" sz="9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9C724BD-4773-4A23-7486-B377C69DA6D9}"/>
              </a:ext>
            </a:extLst>
          </p:cNvPr>
          <p:cNvSpPr txBox="1"/>
          <p:nvPr/>
        </p:nvSpPr>
        <p:spPr>
          <a:xfrm>
            <a:off x="8668512" y="4752356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532923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05  ·  ARCHITECTURE DE L'APPLICATION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09728" cy="1170432"/>
          </a:xfrm>
          <a:prstGeom prst="rect">
            <a:avLst/>
          </a:prstGeom>
          <a:solidFill>
            <a:srgbClr val="4895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05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895EF"/>
                </a:solidFill>
              </a:rPr>
              <a:t>  Couche Présentation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4416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895EF"/>
                </a:solidFill>
              </a:rPr>
              <a:t>▸ </a:t>
            </a:r>
            <a:r>
              <a:rPr lang="en-US" sz="1050" dirty="0">
                <a:solidFill>
                  <a:srgbClr val="1E293B"/>
                </a:solidFill>
              </a:rPr>
              <a:t>Streamlit UI · Authentification 2FA (TOTP)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895EF"/>
                </a:solidFill>
              </a:rPr>
              <a:t>▸ </a:t>
            </a:r>
            <a:r>
              <a:rPr lang="en-US" sz="1050" dirty="0">
                <a:solidFill>
                  <a:srgbClr val="1E293B"/>
                </a:solidFill>
              </a:rPr>
              <a:t>Modules: Tumeur Cérébrale · Œil · </a:t>
            </a:r>
            <a:r>
              <a:rPr lang="en-US" sz="1050" dirty="0" err="1">
                <a:solidFill>
                  <a:srgbClr val="1E293B"/>
                </a:solidFill>
              </a:rPr>
              <a:t>analyse</a:t>
            </a:r>
            <a:r>
              <a:rPr lang="en-US" sz="1050" dirty="0">
                <a:solidFill>
                  <a:srgbClr val="1E293B"/>
                </a:solidFill>
              </a:rPr>
              <a:t> </a:t>
            </a:r>
            <a:r>
              <a:rPr lang="en-US" sz="1050" dirty="0" err="1">
                <a:solidFill>
                  <a:srgbClr val="1E293B"/>
                </a:solidFill>
              </a:rPr>
              <a:t>dentaire</a:t>
            </a:r>
            <a:r>
              <a:rPr lang="en-US" sz="1050" dirty="0">
                <a:solidFill>
                  <a:srgbClr val="1E293B"/>
                </a:solidFill>
              </a:rPr>
              <a:t> , </a:t>
            </a:r>
            <a:r>
              <a:rPr lang="en-US" sz="1050" dirty="0" err="1">
                <a:solidFill>
                  <a:srgbClr val="1E293B"/>
                </a:solidFill>
              </a:rPr>
              <a:t>théroiyde</a:t>
            </a:r>
            <a:r>
              <a:rPr lang="en-US" sz="1050" dirty="0">
                <a:solidFill>
                  <a:srgbClr val="1E293B"/>
                </a:solidFill>
              </a:rPr>
              <a:t> ,PTDM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85623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895EF"/>
                </a:solidFill>
              </a:rPr>
              <a:t>▸ </a:t>
            </a:r>
            <a:r>
              <a:rPr lang="en-US" sz="1050" dirty="0">
                <a:solidFill>
                  <a:srgbClr val="1E293B"/>
                </a:solidFill>
              </a:rPr>
              <a:t>Dashboards · Rapports téléchargeables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258568"/>
            <a:ext cx="859536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74320" y="2258568"/>
            <a:ext cx="109728" cy="1170432"/>
          </a:xfrm>
          <a:prstGeom prst="rect">
            <a:avLst/>
          </a:prstGeom>
          <a:solidFill>
            <a:srgbClr val="0A93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3042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9396"/>
                </a:solidFill>
              </a:rPr>
              <a:t>  Couche Modèles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64261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9396"/>
                </a:solidFill>
              </a:rPr>
              <a:t>▸ </a:t>
            </a:r>
            <a:r>
              <a:rPr lang="en-US" sz="1050" dirty="0">
                <a:solidFill>
                  <a:srgbClr val="1E293B"/>
                </a:solidFill>
              </a:rPr>
              <a:t>ModelManager (chargement paresseux individuel)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289864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9396"/>
                </a:solidFill>
              </a:rPr>
              <a:t>▸ </a:t>
            </a:r>
            <a:r>
              <a:rPr lang="en-US" sz="1050" dirty="0">
                <a:solidFill>
                  <a:srgbClr val="1E293B"/>
                </a:solidFill>
              </a:rPr>
              <a:t>EfficientNet-B0 (PyTorch) · ResNet-34 (FastAI)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315468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9396"/>
                </a:solidFill>
              </a:rPr>
              <a:t>▸ </a:t>
            </a:r>
            <a:r>
              <a:rPr lang="en-US" sz="1050" dirty="0">
                <a:solidFill>
                  <a:srgbClr val="1E293B"/>
                </a:solidFill>
              </a:rPr>
              <a:t>PTDM Model (scikit-learn / règles cliniques)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557016"/>
            <a:ext cx="859536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3557016"/>
            <a:ext cx="109728" cy="1170432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360273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</a:rPr>
              <a:t>  Couche Données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941064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6A4F"/>
                </a:solidFill>
              </a:rPr>
              <a:t>▸ </a:t>
            </a:r>
            <a:r>
              <a:rPr lang="en-US" sz="1050" dirty="0">
                <a:solidFill>
                  <a:srgbClr val="1E293B"/>
                </a:solidFill>
              </a:rPr>
              <a:t>MongoDB (primaire) + JSON/CSV (fallback)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19709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6A4F"/>
                </a:solidFill>
              </a:rPr>
              <a:t>▸ </a:t>
            </a:r>
            <a:r>
              <a:rPr lang="en-US" sz="1050" dirty="0">
                <a:solidFill>
                  <a:srgbClr val="1E293B"/>
                </a:solidFill>
              </a:rPr>
              <a:t>Collections: users · patients · appointments · predictions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445312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6A4F"/>
                </a:solidFill>
              </a:rPr>
              <a:t>▸ </a:t>
            </a:r>
            <a:r>
              <a:rPr lang="en-US" sz="1050" dirty="0">
                <a:solidFill>
                  <a:srgbClr val="1E293B"/>
                </a:solidFill>
              </a:rPr>
              <a:t>Migration automatique · Indexes optimisés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4320" y="4846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Rôles utilisateurs :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77440" y="4754880"/>
            <a:ext cx="1828800" cy="320040"/>
          </a:xfrm>
          <a:prstGeom prst="rect">
            <a:avLst/>
          </a:prstGeom>
          <a:solidFill>
            <a:srgbClr val="4895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377440" y="4754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 Médecin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06876" y="4754880"/>
            <a:ext cx="1828800" cy="32004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389120" y="4754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 </a:t>
            </a:r>
            <a:r>
              <a:rPr lang="en-US" sz="1100" b="1" dirty="0" err="1">
                <a:solidFill>
                  <a:srgbClr val="FFFFFF"/>
                </a:solidFill>
              </a:rPr>
              <a:t>Sécretaire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4754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 </a:t>
            </a:r>
            <a:endParaRPr lang="en-US" sz="11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897D508-FE18-10D4-D69D-5B5DA7DF7A27}"/>
              </a:ext>
            </a:extLst>
          </p:cNvPr>
          <p:cNvSpPr txBox="1"/>
          <p:nvPr/>
        </p:nvSpPr>
        <p:spPr>
          <a:xfrm>
            <a:off x="8668512" y="4752356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657600" cy="3657600"/>
          </a:xfrm>
          <a:prstGeom prst="ellipse">
            <a:avLst/>
          </a:prstGeom>
          <a:solidFill>
            <a:srgbClr val="0A9396">
              <a:alpha val="15000"/>
            </a:srgbClr>
          </a:solidFill>
          <a:ln w="12700">
            <a:solidFill>
              <a:srgbClr val="0A939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EE9B00">
              <a:alpha val="15000"/>
            </a:srgbClr>
          </a:solidFill>
          <a:ln w="12700">
            <a:solidFill>
              <a:srgbClr val="EE9B0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D2BD"/>
                </a:solidFill>
              </a:rPr>
              <a:t>06  ·  CONCLUSION &amp; PERSPECTIVES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Bilan du Projet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512064"/>
          </a:xfrm>
          <a:prstGeom prst="rect">
            <a:avLst/>
          </a:prstGeom>
          <a:solidFill>
            <a:srgbClr val="005F73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49047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50876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3 modèles Deep Learning déployés dans une application Streamlit sécurisée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48256"/>
            <a:ext cx="8229600" cy="512064"/>
          </a:xfrm>
          <a:prstGeom prst="rect">
            <a:avLst/>
          </a:prstGeom>
          <a:solidFill>
            <a:srgbClr val="005F73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07568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093976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EfficientNet-B0 atteint 97.5% de précision sur la classification de tumeurs cérébrales IRM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33472"/>
            <a:ext cx="8229600" cy="512064"/>
          </a:xfrm>
          <a:prstGeom prst="rect">
            <a:avLst/>
          </a:prstGeom>
          <a:solidFill>
            <a:srgbClr val="005F73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66090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679192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ResNet-34 (FastAI) classifie 5 pathologies oculaires avec ~95% d'accuracy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24612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3264408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Resnet</a:t>
            </a:r>
            <a:r>
              <a:rPr lang="en-US" sz="1100" dirty="0"/>
              <a:t> ….. </a:t>
            </a:r>
          </a:p>
        </p:txBody>
      </p:sp>
      <p:sp>
        <p:nvSpPr>
          <p:cNvPr id="18" name="Shape 16"/>
          <p:cNvSpPr/>
          <p:nvPr/>
        </p:nvSpPr>
        <p:spPr>
          <a:xfrm>
            <a:off x="457200" y="3803904"/>
            <a:ext cx="8229600" cy="512064"/>
          </a:xfrm>
          <a:prstGeom prst="rect">
            <a:avLst/>
          </a:prstGeom>
          <a:solidFill>
            <a:srgbClr val="005F73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383133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97280" y="3849624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Architecture robuste : MongoDB + fallback JSON, authentification 2FA, rôles multi-utilisateurs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A93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446227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 Perspectives :  Ajouter explainabilité (Grad-CAM) · Déploiement cloud · Validation clinique</a:t>
            </a:r>
            <a:endParaRPr lang="en-US" sz="1200" dirty="0"/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2BAD4E38-0581-8C98-69C1-56E7F286E923}"/>
              </a:ext>
            </a:extLst>
          </p:cNvPr>
          <p:cNvSpPr/>
          <p:nvPr/>
        </p:nvSpPr>
        <p:spPr>
          <a:xfrm>
            <a:off x="457200" y="3204972"/>
            <a:ext cx="8229600" cy="512064"/>
          </a:xfrm>
          <a:prstGeom prst="rect">
            <a:avLst/>
          </a:prstGeom>
          <a:solidFill>
            <a:srgbClr val="005F73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29F279-F0BC-BD45-63E2-184E7A1F9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904C040-EB69-56D4-51D2-CCC6891F0678}"/>
              </a:ext>
            </a:extLst>
          </p:cNvPr>
          <p:cNvSpPr/>
          <p:nvPr/>
        </p:nvSpPr>
        <p:spPr>
          <a:xfrm>
            <a:off x="-731520" y="-731520"/>
            <a:ext cx="3657600" cy="3657600"/>
          </a:xfrm>
          <a:prstGeom prst="ellipse">
            <a:avLst/>
          </a:prstGeom>
          <a:solidFill>
            <a:srgbClr val="0A9396">
              <a:alpha val="15000"/>
            </a:srgbClr>
          </a:solidFill>
          <a:ln w="12700">
            <a:solidFill>
              <a:srgbClr val="0A939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FD086D1-4702-A658-DDD9-0A9AF78534B7}"/>
              </a:ext>
            </a:extLst>
          </p:cNvPr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EE9B00">
              <a:alpha val="15000"/>
            </a:srgbClr>
          </a:solidFill>
          <a:ln w="12700">
            <a:solidFill>
              <a:srgbClr val="EE9B0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BD59BC4-98C7-406A-55CD-E49B28927CDE}"/>
              </a:ext>
            </a:extLst>
          </p:cNvPr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A116972-F26A-E06D-A906-DCC0B383A402}"/>
              </a:ext>
            </a:extLst>
          </p:cNvPr>
          <p:cNvSpPr/>
          <p:nvPr/>
        </p:nvSpPr>
        <p:spPr>
          <a:xfrm>
            <a:off x="2170591" y="222656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Merci pour </a:t>
            </a:r>
            <a:r>
              <a:rPr lang="en-US" sz="3200" b="1" dirty="0" err="1">
                <a:solidFill>
                  <a:srgbClr val="FFFFFF"/>
                </a:solidFill>
              </a:rPr>
              <a:t>votre</a:t>
            </a:r>
            <a:r>
              <a:rPr lang="en-US" sz="3200" b="1" dirty="0">
                <a:solidFill>
                  <a:srgbClr val="FFFFFF"/>
                </a:solidFill>
              </a:rPr>
              <a:t> Attention !</a:t>
            </a:r>
            <a:endParaRPr lang="en-US" sz="3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C0E051F-4650-D02F-9CBC-E164FC46CC79}"/>
              </a:ext>
            </a:extLst>
          </p:cNvPr>
          <p:cNvSpPr/>
          <p:nvPr/>
        </p:nvSpPr>
        <p:spPr>
          <a:xfrm>
            <a:off x="548640" y="149047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57DC8F5-501C-9145-E9AC-A2B999F6815A}"/>
              </a:ext>
            </a:extLst>
          </p:cNvPr>
          <p:cNvSpPr/>
          <p:nvPr/>
        </p:nvSpPr>
        <p:spPr>
          <a:xfrm>
            <a:off x="548640" y="207568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DEEC930-1A53-3FEB-2088-4178244966BD}"/>
              </a:ext>
            </a:extLst>
          </p:cNvPr>
          <p:cNvSpPr/>
          <p:nvPr/>
        </p:nvSpPr>
        <p:spPr>
          <a:xfrm>
            <a:off x="1097280" y="2093976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96A3A03-59F0-D605-814A-830F97B110A1}"/>
              </a:ext>
            </a:extLst>
          </p:cNvPr>
          <p:cNvSpPr/>
          <p:nvPr/>
        </p:nvSpPr>
        <p:spPr>
          <a:xfrm>
            <a:off x="548640" y="266090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47221E0-64A9-362F-D34C-995AD955F783}"/>
              </a:ext>
            </a:extLst>
          </p:cNvPr>
          <p:cNvSpPr/>
          <p:nvPr/>
        </p:nvSpPr>
        <p:spPr>
          <a:xfrm>
            <a:off x="1097280" y="2679192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B782F34-A0E1-239C-BE80-B0C685FD288C}"/>
              </a:ext>
            </a:extLst>
          </p:cNvPr>
          <p:cNvSpPr/>
          <p:nvPr/>
        </p:nvSpPr>
        <p:spPr>
          <a:xfrm>
            <a:off x="548640" y="324612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4A7F4A0-DD3C-FACB-262B-DCDE46FFE10D}"/>
              </a:ext>
            </a:extLst>
          </p:cNvPr>
          <p:cNvSpPr/>
          <p:nvPr/>
        </p:nvSpPr>
        <p:spPr>
          <a:xfrm>
            <a:off x="1097280" y="3264408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265FF10-B3BD-B56F-4ECF-4D5D33B4885F}"/>
              </a:ext>
            </a:extLst>
          </p:cNvPr>
          <p:cNvSpPr/>
          <p:nvPr/>
        </p:nvSpPr>
        <p:spPr>
          <a:xfrm>
            <a:off x="548640" y="383133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0F8DB1AE-7271-69B3-F371-9398D2CEDE2E}"/>
              </a:ext>
            </a:extLst>
          </p:cNvPr>
          <p:cNvSpPr/>
          <p:nvPr/>
        </p:nvSpPr>
        <p:spPr>
          <a:xfrm>
            <a:off x="274320" y="446227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545065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885</TotalTime>
  <Words>1275</Words>
  <Application>Microsoft Office PowerPoint</Application>
  <PresentationFormat>On-screen Show (16:9)</PresentationFormat>
  <Paragraphs>349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Deep Learning — Classification Médicale</dc:title>
  <dc:subject>PptxGenJS Presentation</dc:subject>
  <dc:creator>PptxGenJS</dc:creator>
  <cp:lastModifiedBy>Rihem BEN TEKAYA</cp:lastModifiedBy>
  <cp:revision>3</cp:revision>
  <dcterms:created xsi:type="dcterms:W3CDTF">2026-05-21T21:17:42Z</dcterms:created>
  <dcterms:modified xsi:type="dcterms:W3CDTF">2026-05-22T12:31:05Z</dcterms:modified>
</cp:coreProperties>
</file>